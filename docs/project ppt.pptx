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4" r:id="rId6"/>
    <p:sldId id="266" r:id="rId7"/>
    <p:sldId id="270" r:id="rId8"/>
    <p:sldId id="319" r:id="rId9"/>
    <p:sldId id="274" r:id="rId10"/>
    <p:sldId id="301" r:id="rId11"/>
    <p:sldId id="276" r:id="rId12"/>
    <p:sldId id="277" r:id="rId13"/>
    <p:sldId id="297" r:id="rId14"/>
    <p:sldId id="294" r:id="rId15"/>
    <p:sldId id="279" r:id="rId16"/>
    <p:sldId id="318" r:id="rId17"/>
    <p:sldId id="306" r:id="rId18"/>
    <p:sldId id="307" r:id="rId19"/>
    <p:sldId id="308" r:id="rId20"/>
    <p:sldId id="309" r:id="rId21"/>
    <p:sldId id="312" r:id="rId22"/>
    <p:sldId id="310" r:id="rId23"/>
    <p:sldId id="313" r:id="rId24"/>
    <p:sldId id="314" r:id="rId25"/>
    <p:sldId id="311" r:id="rId26"/>
    <p:sldId id="316" r:id="rId27"/>
    <p:sldId id="315" r:id="rId28"/>
    <p:sldId id="281" r:id="rId29"/>
    <p:sldId id="321" r:id="rId30"/>
    <p:sldId id="283" r:id="rId31"/>
    <p:sldId id="262" r:id="rId32"/>
  </p:sldIdLst>
  <p:sldSz cx="18288000" cy="10287000"/>
  <p:notesSz cx="6858000" cy="9144000"/>
  <p:embeddedFontLst>
    <p:embeddedFont>
      <p:font typeface="Futura Ultra-Bold" panose="020B0604020202020204" charset="0"/>
      <p:regular r:id="rId33"/>
    </p:embeddedFont>
    <p:embeddedFont>
      <p:font typeface="Helios" panose="020B0604020202020204" charset="0"/>
      <p:regular r:id="rId34"/>
    </p:embeddedFont>
    <p:embeddedFont>
      <p:font typeface="Helios Bold" panose="020B0604020202020204" charset="0"/>
      <p:regular r:id="rId35"/>
    </p:embeddedFont>
    <p:embeddedFont>
      <p:font typeface="TT Hoves Bold"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39756">
            <a:off x="1833395" y="-1590512"/>
            <a:ext cx="5658816" cy="2538160"/>
            <a:chOff x="0" y="0"/>
            <a:chExt cx="7545088" cy="3384214"/>
          </a:xfrm>
        </p:grpSpPr>
        <p:sp>
          <p:nvSpPr>
            <p:cNvPr id="3" name="Freeform 3"/>
            <p:cNvSpPr/>
            <p:nvPr/>
          </p:nvSpPr>
          <p:spPr>
            <a:xfrm>
              <a:off x="0" y="0"/>
              <a:ext cx="7733665" cy="3572764"/>
            </a:xfrm>
            <a:custGeom>
              <a:avLst/>
              <a:gdLst/>
              <a:ahLst/>
              <a:cxnLst/>
              <a:rect l="l" t="t" r="r" b="b"/>
              <a:pathLst>
                <a:path w="7733665" h="3572764">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0074BE"/>
            </a:solidFill>
          </p:spPr>
        </p:sp>
      </p:grpSp>
      <p:grpSp>
        <p:nvGrpSpPr>
          <p:cNvPr id="4" name="Group 4"/>
          <p:cNvGrpSpPr/>
          <p:nvPr/>
        </p:nvGrpSpPr>
        <p:grpSpPr>
          <a:xfrm rot="-4581893">
            <a:off x="2470092" y="10475346"/>
            <a:ext cx="5658816" cy="2538160"/>
            <a:chOff x="0" y="0"/>
            <a:chExt cx="7545088" cy="3384214"/>
          </a:xfrm>
        </p:grpSpPr>
        <p:sp>
          <p:nvSpPr>
            <p:cNvPr id="5" name="Freeform 5"/>
            <p:cNvSpPr/>
            <p:nvPr/>
          </p:nvSpPr>
          <p:spPr>
            <a:xfrm>
              <a:off x="0" y="0"/>
              <a:ext cx="7733665" cy="3572764"/>
            </a:xfrm>
            <a:custGeom>
              <a:avLst/>
              <a:gdLst/>
              <a:ahLst/>
              <a:cxnLst/>
              <a:rect l="l" t="t" r="r" b="b"/>
              <a:pathLst>
                <a:path w="7733665" h="3572764">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0074BE"/>
            </a:solidFill>
          </p:spPr>
        </p:sp>
      </p:grpSp>
      <p:grpSp>
        <p:nvGrpSpPr>
          <p:cNvPr id="6" name="Group 6"/>
          <p:cNvGrpSpPr/>
          <p:nvPr/>
        </p:nvGrpSpPr>
        <p:grpSpPr>
          <a:xfrm rot="-10800000">
            <a:off x="2788500" y="2632500"/>
            <a:ext cx="5022001" cy="5022001"/>
            <a:chOff x="0" y="0"/>
            <a:chExt cx="6696000" cy="6696000"/>
          </a:xfrm>
        </p:grpSpPr>
        <p:sp>
          <p:nvSpPr>
            <p:cNvPr id="7" name="Freeform 7"/>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FFFFFF"/>
            </a:solidFill>
          </p:spPr>
        </p:sp>
      </p:grpSp>
      <p:grpSp>
        <p:nvGrpSpPr>
          <p:cNvPr id="8" name="Group 8"/>
          <p:cNvGrpSpPr/>
          <p:nvPr/>
        </p:nvGrpSpPr>
        <p:grpSpPr>
          <a:xfrm rot="5400000">
            <a:off x="-3160500" y="1827000"/>
            <a:ext cx="10286999" cy="6633000"/>
            <a:chOff x="0" y="0"/>
            <a:chExt cx="13715996" cy="8843998"/>
          </a:xfrm>
        </p:grpSpPr>
        <p:sp>
          <p:nvSpPr>
            <p:cNvPr id="9" name="Freeform 9"/>
            <p:cNvSpPr/>
            <p:nvPr/>
          </p:nvSpPr>
          <p:spPr>
            <a:xfrm>
              <a:off x="0" y="0"/>
              <a:ext cx="13716000" cy="8843899"/>
            </a:xfrm>
            <a:custGeom>
              <a:avLst/>
              <a:gdLst/>
              <a:ahLst/>
              <a:cxnLst/>
              <a:rect l="l" t="t" r="r" b="b"/>
              <a:pathLst>
                <a:path w="13716000" h="8843899">
                  <a:moveTo>
                    <a:pt x="11237341" y="0"/>
                  </a:moveTo>
                  <a:lnTo>
                    <a:pt x="2478659" y="0"/>
                  </a:lnTo>
                  <a:lnTo>
                    <a:pt x="0" y="2478659"/>
                  </a:lnTo>
                  <a:lnTo>
                    <a:pt x="0" y="8843899"/>
                  </a:lnTo>
                  <a:lnTo>
                    <a:pt x="13716000" y="8843899"/>
                  </a:lnTo>
                  <a:lnTo>
                    <a:pt x="13716000" y="2478659"/>
                  </a:lnTo>
                  <a:close/>
                </a:path>
              </a:pathLst>
            </a:custGeom>
            <a:solidFill>
              <a:srgbClr val="EF233C"/>
            </a:solidFill>
          </p:spPr>
        </p:sp>
      </p:grpSp>
      <p:grpSp>
        <p:nvGrpSpPr>
          <p:cNvPr id="10" name="Group 10"/>
          <p:cNvGrpSpPr/>
          <p:nvPr/>
        </p:nvGrpSpPr>
        <p:grpSpPr>
          <a:xfrm rot="-10800000">
            <a:off x="3059220" y="2903220"/>
            <a:ext cx="4480561" cy="4480561"/>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3328500" y="3335099"/>
            <a:ext cx="3942001" cy="3942001"/>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sp>
        <p:nvSpPr>
          <p:cNvPr id="14" name="TextBox 14"/>
          <p:cNvSpPr txBox="1"/>
          <p:nvPr/>
        </p:nvSpPr>
        <p:spPr>
          <a:xfrm>
            <a:off x="7809062" y="1786612"/>
            <a:ext cx="9413893" cy="2592697"/>
          </a:xfrm>
          <a:prstGeom prst="rect">
            <a:avLst/>
          </a:prstGeom>
        </p:spPr>
        <p:txBody>
          <a:bodyPr wrap="square" lIns="0" tIns="0" rIns="0" bIns="0" rtlCol="0" anchor="t">
            <a:spAutoFit/>
          </a:bodyPr>
          <a:lstStyle/>
          <a:p>
            <a:pPr algn="ctr">
              <a:lnSpc>
                <a:spcPts val="10800"/>
              </a:lnSpc>
            </a:pPr>
            <a:r>
              <a:rPr lang="en-US" sz="6000" dirty="0">
                <a:solidFill>
                  <a:schemeClr val="tx2"/>
                </a:solidFill>
                <a:latin typeface="Helios"/>
                <a:ea typeface="Helios"/>
                <a:cs typeface="Helios"/>
                <a:sym typeface="Helios"/>
              </a:rPr>
              <a:t>Exam Management System </a:t>
            </a:r>
          </a:p>
          <a:p>
            <a:pPr algn="r">
              <a:lnSpc>
                <a:spcPts val="10800"/>
              </a:lnSpc>
            </a:pPr>
            <a:r>
              <a:rPr lang="en-US" sz="6000" dirty="0">
                <a:solidFill>
                  <a:srgbClr val="EF233C"/>
                </a:solidFill>
                <a:latin typeface="Helios"/>
                <a:ea typeface="Helios"/>
                <a:cs typeface="Helios"/>
                <a:sym typeface="Helios"/>
              </a:rPr>
              <a:t> </a:t>
            </a:r>
          </a:p>
        </p:txBody>
      </p:sp>
      <p:sp>
        <p:nvSpPr>
          <p:cNvPr id="15" name="TextBox 15"/>
          <p:cNvSpPr txBox="1"/>
          <p:nvPr/>
        </p:nvSpPr>
        <p:spPr>
          <a:xfrm>
            <a:off x="12103195" y="7532144"/>
            <a:ext cx="6078551" cy="2059410"/>
          </a:xfrm>
          <a:prstGeom prst="rect">
            <a:avLst/>
          </a:prstGeom>
        </p:spPr>
        <p:txBody>
          <a:bodyPr wrap="square" lIns="0" tIns="0" rIns="0" bIns="0" rtlCol="0" anchor="t">
            <a:spAutoFit/>
          </a:bodyPr>
          <a:lstStyle/>
          <a:p>
            <a:pPr algn="just">
              <a:lnSpc>
                <a:spcPts val="5600"/>
              </a:lnSpc>
            </a:pPr>
            <a:r>
              <a:rPr lang="en-US" sz="3000" dirty="0">
                <a:solidFill>
                  <a:srgbClr val="000000"/>
                </a:solidFill>
                <a:latin typeface="Helios" panose="020B0604020202020204" charset="0"/>
                <a:ea typeface="Helios"/>
                <a:cs typeface="Helios"/>
                <a:sym typeface="Helios"/>
              </a:rPr>
              <a:t>Prepared by:</a:t>
            </a:r>
          </a:p>
          <a:p>
            <a:pPr algn="just">
              <a:lnSpc>
                <a:spcPts val="5600"/>
              </a:lnSpc>
            </a:pPr>
            <a:r>
              <a:rPr lang="en-US" sz="3000" dirty="0">
                <a:solidFill>
                  <a:srgbClr val="000000"/>
                </a:solidFill>
                <a:latin typeface="Helios" panose="020B0604020202020204" charset="0"/>
                <a:ea typeface="Helios"/>
                <a:cs typeface="Helios"/>
                <a:sym typeface="Helios"/>
              </a:rPr>
              <a:t>Karuna Magar(35502104)</a:t>
            </a:r>
          </a:p>
          <a:p>
            <a:pPr algn="just">
              <a:lnSpc>
                <a:spcPts val="5600"/>
              </a:lnSpc>
            </a:pPr>
            <a:r>
              <a:rPr lang="en-US" sz="3000" dirty="0">
                <a:solidFill>
                  <a:srgbClr val="000000"/>
                </a:solidFill>
                <a:latin typeface="Helios" panose="020B0604020202020204" charset="0"/>
                <a:ea typeface="Helios"/>
                <a:cs typeface="Helios"/>
                <a:sym typeface="Helios"/>
              </a:rPr>
              <a:t>Avipsha Adhikari(35502102)</a:t>
            </a:r>
          </a:p>
        </p:txBody>
      </p:sp>
      <p:sp>
        <p:nvSpPr>
          <p:cNvPr id="16" name="TextBox 16"/>
          <p:cNvSpPr txBox="1"/>
          <p:nvPr/>
        </p:nvSpPr>
        <p:spPr>
          <a:xfrm>
            <a:off x="7050540" y="7532144"/>
            <a:ext cx="5516228" cy="2065052"/>
          </a:xfrm>
          <a:prstGeom prst="rect">
            <a:avLst/>
          </a:prstGeom>
        </p:spPr>
        <p:txBody>
          <a:bodyPr lIns="0" tIns="0" rIns="0" bIns="0" rtlCol="0" anchor="t">
            <a:spAutoFit/>
          </a:bodyPr>
          <a:lstStyle/>
          <a:p>
            <a:pPr algn="just">
              <a:lnSpc>
                <a:spcPts val="5600"/>
              </a:lnSpc>
            </a:pPr>
            <a:r>
              <a:rPr lang="en-US" sz="3000" dirty="0">
                <a:solidFill>
                  <a:srgbClr val="000000"/>
                </a:solidFill>
                <a:latin typeface="Helios"/>
                <a:ea typeface="Helios"/>
                <a:cs typeface="Helios"/>
                <a:sym typeface="Helios"/>
              </a:rPr>
              <a:t>Project I </a:t>
            </a:r>
          </a:p>
          <a:p>
            <a:pPr algn="just">
              <a:lnSpc>
                <a:spcPts val="5600"/>
              </a:lnSpc>
            </a:pPr>
            <a:r>
              <a:rPr lang="en-US" sz="3000" dirty="0">
                <a:solidFill>
                  <a:srgbClr val="000000"/>
                </a:solidFill>
                <a:latin typeface="Helios"/>
                <a:ea typeface="Helios"/>
                <a:cs typeface="Helios"/>
                <a:sym typeface="Helios"/>
              </a:rPr>
              <a:t>Course Code: CAPJ256</a:t>
            </a:r>
          </a:p>
          <a:p>
            <a:pPr algn="just">
              <a:lnSpc>
                <a:spcPts val="5600"/>
              </a:lnSpc>
            </a:pPr>
            <a:r>
              <a:rPr lang="en-US" sz="3000" dirty="0">
                <a:solidFill>
                  <a:srgbClr val="000000"/>
                </a:solidFill>
                <a:latin typeface="Helios"/>
                <a:ea typeface="Helios"/>
                <a:cs typeface="Helios"/>
                <a:sym typeface="Helios"/>
              </a:rPr>
              <a:t>Semester: 4th sem.</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7475" y="-598666"/>
            <a:ext cx="2480865" cy="2401475"/>
            <a:chOff x="0" y="0"/>
            <a:chExt cx="5668058" cy="5486674"/>
          </a:xfrm>
        </p:grpSpPr>
        <p:sp>
          <p:nvSpPr>
            <p:cNvPr id="3" name="Freeform 3"/>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grpSp>
        <p:nvGrpSpPr>
          <p:cNvPr id="4" name="Group 4"/>
          <p:cNvGrpSpPr/>
          <p:nvPr/>
        </p:nvGrpSpPr>
        <p:grpSpPr>
          <a:xfrm>
            <a:off x="0" y="9612633"/>
            <a:ext cx="18288000" cy="514104"/>
            <a:chOff x="0" y="0"/>
            <a:chExt cx="4816593" cy="135402"/>
          </a:xfrm>
        </p:grpSpPr>
        <p:sp>
          <p:nvSpPr>
            <p:cNvPr id="5" name="Freeform 5"/>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6" name="TextBox 6"/>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6013701" y="612017"/>
            <a:ext cx="7239000" cy="1000274"/>
          </a:xfrm>
          <a:prstGeom prst="rect">
            <a:avLst/>
          </a:prstGeom>
        </p:spPr>
        <p:txBody>
          <a:bodyPr wrap="square" lIns="0" tIns="0" rIns="0" bIns="0" rtlCol="0" anchor="t">
            <a:spAutoFit/>
          </a:bodyPr>
          <a:lstStyle/>
          <a:p>
            <a:pPr marL="0" lvl="0" indent="0" algn="l">
              <a:lnSpc>
                <a:spcPts val="7800"/>
              </a:lnSpc>
              <a:spcBef>
                <a:spcPct val="0"/>
              </a:spcBef>
            </a:pPr>
            <a:r>
              <a:rPr lang="en-US" sz="6500" dirty="0">
                <a:solidFill>
                  <a:srgbClr val="000000"/>
                </a:solidFill>
                <a:latin typeface="Helios Bold"/>
                <a:ea typeface="Helios Bold"/>
                <a:cs typeface="Helios Bold"/>
                <a:sym typeface="Helios Bold"/>
              </a:rPr>
              <a:t>Table of Contents</a:t>
            </a:r>
          </a:p>
        </p:txBody>
      </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sp>
        <p:nvSpPr>
          <p:cNvPr id="14" name="TextBox 14"/>
          <p:cNvSpPr txBox="1"/>
          <p:nvPr/>
        </p:nvSpPr>
        <p:spPr>
          <a:xfrm>
            <a:off x="3493517" y="1706059"/>
            <a:ext cx="5773474" cy="5386090"/>
          </a:xfrm>
          <a:prstGeom prst="rect">
            <a:avLst/>
          </a:prstGeom>
        </p:spPr>
        <p:txBody>
          <a:bodyPr lIns="0" tIns="0" rIns="0" bIns="0" rtlCol="0" anchor="t">
            <a:spAutoFit/>
          </a:bodyPr>
          <a:lstStyle/>
          <a:p>
            <a:pPr marL="604521" lvl="1" indent="-302261" algn="l">
              <a:lnSpc>
                <a:spcPts val="7000"/>
              </a:lnSpc>
              <a:buFont typeface="Arial"/>
              <a:buChar char="•"/>
            </a:pPr>
            <a:r>
              <a:rPr lang="en-US" sz="2800" dirty="0">
                <a:solidFill>
                  <a:srgbClr val="000000"/>
                </a:solidFill>
                <a:latin typeface="Helios"/>
                <a:ea typeface="Helios"/>
                <a:cs typeface="Helios"/>
                <a:sym typeface="Helios"/>
              </a:rPr>
              <a:t>Introduction</a:t>
            </a:r>
          </a:p>
          <a:p>
            <a:pPr marL="604521" lvl="1" indent="-302261" algn="l">
              <a:lnSpc>
                <a:spcPts val="7000"/>
              </a:lnSpc>
              <a:buFont typeface="Arial"/>
              <a:buChar char="•"/>
            </a:pPr>
            <a:r>
              <a:rPr lang="en-US" sz="2800" dirty="0">
                <a:solidFill>
                  <a:srgbClr val="000000"/>
                </a:solidFill>
                <a:latin typeface="Helios"/>
                <a:ea typeface="Helios"/>
                <a:cs typeface="Helios"/>
                <a:sym typeface="Helios"/>
              </a:rPr>
              <a:t>Problem Statement</a:t>
            </a:r>
          </a:p>
          <a:p>
            <a:pPr marL="604521" lvl="1" indent="-302261" algn="l">
              <a:lnSpc>
                <a:spcPts val="7000"/>
              </a:lnSpc>
              <a:buFont typeface="Arial"/>
              <a:buChar char="•"/>
            </a:pPr>
            <a:r>
              <a:rPr lang="en-US" sz="2800" dirty="0">
                <a:solidFill>
                  <a:srgbClr val="000000"/>
                </a:solidFill>
                <a:latin typeface="Helios"/>
                <a:ea typeface="Helios"/>
                <a:cs typeface="Helios"/>
                <a:sym typeface="Helios"/>
              </a:rPr>
              <a:t>Objectives</a:t>
            </a:r>
          </a:p>
          <a:p>
            <a:pPr marL="604521" lvl="1" indent="-302261" algn="l">
              <a:lnSpc>
                <a:spcPts val="7000"/>
              </a:lnSpc>
              <a:buFont typeface="Arial"/>
              <a:buChar char="•"/>
            </a:pPr>
            <a:r>
              <a:rPr lang="en-US" sz="2800" dirty="0">
                <a:solidFill>
                  <a:srgbClr val="000000"/>
                </a:solidFill>
                <a:latin typeface="Helios"/>
                <a:ea typeface="Helios"/>
                <a:cs typeface="Helios"/>
                <a:sym typeface="Helios"/>
              </a:rPr>
              <a:t>Scope and Limitation </a:t>
            </a:r>
          </a:p>
          <a:p>
            <a:pPr marL="604521" lvl="1" indent="-302261" algn="l">
              <a:lnSpc>
                <a:spcPts val="7000"/>
              </a:lnSpc>
              <a:buFont typeface="Arial"/>
              <a:buChar char="•"/>
            </a:pPr>
            <a:r>
              <a:rPr lang="en-US" sz="2800" dirty="0">
                <a:solidFill>
                  <a:srgbClr val="000000"/>
                </a:solidFill>
                <a:latin typeface="Helios"/>
                <a:ea typeface="Helios"/>
                <a:cs typeface="Helios"/>
                <a:sym typeface="Helios"/>
              </a:rPr>
              <a:t>Methodology</a:t>
            </a:r>
          </a:p>
          <a:p>
            <a:pPr marL="604521" lvl="1" indent="-302261" algn="l">
              <a:lnSpc>
                <a:spcPts val="7000"/>
              </a:lnSpc>
              <a:buFont typeface="Arial"/>
              <a:buChar char="•"/>
            </a:pPr>
            <a:r>
              <a:rPr lang="en-US" sz="2800" dirty="0">
                <a:solidFill>
                  <a:srgbClr val="000000"/>
                </a:solidFill>
                <a:latin typeface="Helios"/>
                <a:ea typeface="Helios"/>
                <a:cs typeface="Helios"/>
                <a:sym typeface="Helios"/>
              </a:rPr>
              <a:t>Gantt Chart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95362"/>
            <a:ext cx="4669373" cy="1285875"/>
          </a:xfrm>
          <a:prstGeom prst="rect">
            <a:avLst/>
          </a:prstGeom>
        </p:spPr>
        <p:txBody>
          <a:bodyPr lIns="0" tIns="0" rIns="0" bIns="0" rtlCol="0" anchor="t">
            <a:spAutoFit/>
          </a:bodyPr>
          <a:lstStyle/>
          <a:p>
            <a:pPr algn="ctr">
              <a:lnSpc>
                <a:spcPts val="10199"/>
              </a:lnSpc>
            </a:pPr>
            <a:r>
              <a:rPr lang="en-US" sz="8499" dirty="0">
                <a:solidFill>
                  <a:srgbClr val="FFFFFF"/>
                </a:solidFill>
                <a:latin typeface="TT Hoves Bold"/>
                <a:ea typeface="TT Hoves Bold"/>
                <a:cs typeface="TT Hoves Bold"/>
                <a:sym typeface="TT Hoves Bold"/>
              </a:rPr>
              <a:t>Agenda</a:t>
            </a:r>
          </a:p>
        </p:txBody>
      </p:sp>
      <p:grpSp>
        <p:nvGrpSpPr>
          <p:cNvPr id="4" name="Group 4"/>
          <p:cNvGrpSpPr/>
          <p:nvPr/>
        </p:nvGrpSpPr>
        <p:grpSpPr>
          <a:xfrm>
            <a:off x="-837475" y="-598666"/>
            <a:ext cx="2480865" cy="2401475"/>
            <a:chOff x="0" y="0"/>
            <a:chExt cx="5668058" cy="5486674"/>
          </a:xfrm>
        </p:grpSpPr>
        <p:sp>
          <p:nvSpPr>
            <p:cNvPr id="5" name="Freeform 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grpSp>
        <p:nvGrpSpPr>
          <p:cNvPr id="6" name="Group 6"/>
          <p:cNvGrpSpPr/>
          <p:nvPr/>
        </p:nvGrpSpPr>
        <p:grpSpPr>
          <a:xfrm>
            <a:off x="0" y="9612633"/>
            <a:ext cx="18288000" cy="514104"/>
            <a:chOff x="0" y="0"/>
            <a:chExt cx="4816593" cy="135402"/>
          </a:xfrm>
        </p:grpSpPr>
        <p:sp>
          <p:nvSpPr>
            <p:cNvPr id="7" name="Freeform 7"/>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8" name="TextBox 8"/>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9" name="Group 9"/>
          <p:cNvGrpSpPr/>
          <p:nvPr/>
        </p:nvGrpSpPr>
        <p:grpSpPr>
          <a:xfrm rot="-10800000">
            <a:off x="8715111" y="9258300"/>
            <a:ext cx="1028700" cy="1028700"/>
            <a:chOff x="0" y="0"/>
            <a:chExt cx="6696000" cy="6696000"/>
          </a:xfrm>
        </p:grpSpPr>
        <p:sp>
          <p:nvSpPr>
            <p:cNvPr id="10" name="Freeform 10"/>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1" name="Group 11"/>
          <p:cNvGrpSpPr/>
          <p:nvPr/>
        </p:nvGrpSpPr>
        <p:grpSpPr>
          <a:xfrm rot="-10800000">
            <a:off x="8770565" y="9313754"/>
            <a:ext cx="917792" cy="917792"/>
            <a:chOff x="0" y="0"/>
            <a:chExt cx="5974080" cy="5974080"/>
          </a:xfrm>
        </p:grpSpPr>
        <p:sp>
          <p:nvSpPr>
            <p:cNvPr id="12" name="Freeform 12"/>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3" name="Group 13"/>
          <p:cNvGrpSpPr/>
          <p:nvPr/>
        </p:nvGrpSpPr>
        <p:grpSpPr>
          <a:xfrm>
            <a:off x="8825724" y="9368913"/>
            <a:ext cx="807474" cy="807474"/>
            <a:chOff x="0" y="0"/>
            <a:chExt cx="5256000" cy="5256000"/>
          </a:xfrm>
        </p:grpSpPr>
        <p:sp>
          <p:nvSpPr>
            <p:cNvPr id="14" name="Freeform 14"/>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sp>
        <p:nvSpPr>
          <p:cNvPr id="15" name="TextBox 15"/>
          <p:cNvSpPr txBox="1"/>
          <p:nvPr/>
        </p:nvSpPr>
        <p:spPr>
          <a:xfrm>
            <a:off x="2780781" y="1657508"/>
            <a:ext cx="5773474" cy="6032421"/>
          </a:xfrm>
          <a:prstGeom prst="rect">
            <a:avLst/>
          </a:prstGeom>
        </p:spPr>
        <p:txBody>
          <a:bodyPr lIns="0" tIns="0" rIns="0" bIns="0" rtlCol="0" anchor="t">
            <a:spAutoFit/>
          </a:bodyPr>
          <a:lstStyle/>
          <a:p>
            <a:pPr marL="604521" lvl="1" indent="-302261" algn="l">
              <a:lnSpc>
                <a:spcPct val="200000"/>
              </a:lnSpc>
              <a:buFont typeface="Arial"/>
              <a:buChar char="•"/>
            </a:pPr>
            <a:r>
              <a:rPr lang="en-US" sz="2800" dirty="0">
                <a:solidFill>
                  <a:srgbClr val="000000"/>
                </a:solidFill>
                <a:latin typeface="Helios"/>
                <a:ea typeface="Helios"/>
                <a:cs typeface="Helios"/>
                <a:sym typeface="Helios"/>
              </a:rPr>
              <a:t>System Modules</a:t>
            </a:r>
          </a:p>
          <a:p>
            <a:pPr marL="604521" lvl="1" indent="-302261" algn="l">
              <a:lnSpc>
                <a:spcPct val="200000"/>
              </a:lnSpc>
              <a:buFont typeface="Arial"/>
              <a:buChar char="•"/>
            </a:pPr>
            <a:r>
              <a:rPr lang="en-US" sz="2800" dirty="0">
                <a:solidFill>
                  <a:srgbClr val="000000"/>
                </a:solidFill>
                <a:latin typeface="Helios"/>
                <a:ea typeface="Helios"/>
                <a:cs typeface="Helios"/>
                <a:sym typeface="Helios"/>
              </a:rPr>
              <a:t>System Design</a:t>
            </a:r>
          </a:p>
          <a:p>
            <a:pPr marL="604521" lvl="1" indent="-302261" algn="l">
              <a:lnSpc>
                <a:spcPct val="200000"/>
              </a:lnSpc>
              <a:buFont typeface="Arial"/>
              <a:buChar char="•"/>
            </a:pPr>
            <a:r>
              <a:rPr lang="en-US" sz="2800" dirty="0">
                <a:solidFill>
                  <a:srgbClr val="000000"/>
                </a:solidFill>
                <a:latin typeface="Helios"/>
                <a:ea typeface="Helios"/>
                <a:cs typeface="Helios"/>
                <a:sym typeface="Helios"/>
              </a:rPr>
              <a:t>Context Diagram</a:t>
            </a:r>
          </a:p>
          <a:p>
            <a:pPr marL="604521" lvl="1" indent="-302261" algn="l">
              <a:lnSpc>
                <a:spcPct val="200000"/>
              </a:lnSpc>
              <a:buFont typeface="Arial"/>
              <a:buChar char="•"/>
            </a:pPr>
            <a:r>
              <a:rPr lang="en-US" sz="2800" dirty="0">
                <a:solidFill>
                  <a:srgbClr val="000000"/>
                </a:solidFill>
                <a:latin typeface="Helios"/>
                <a:ea typeface="Helios"/>
                <a:cs typeface="Helios"/>
                <a:sym typeface="Helios"/>
              </a:rPr>
              <a:t>Implementation Tools</a:t>
            </a:r>
          </a:p>
          <a:p>
            <a:pPr marL="604521" lvl="1" indent="-302261" algn="l">
              <a:lnSpc>
                <a:spcPct val="200000"/>
              </a:lnSpc>
              <a:buFont typeface="Arial"/>
              <a:buChar char="•"/>
            </a:pPr>
            <a:r>
              <a:rPr lang="en-US" sz="2800" dirty="0">
                <a:solidFill>
                  <a:srgbClr val="000000"/>
                </a:solidFill>
                <a:latin typeface="Helios"/>
                <a:ea typeface="Helios"/>
                <a:cs typeface="Helios"/>
                <a:sym typeface="Helios"/>
              </a:rPr>
              <a:t>Testing Evidence</a:t>
            </a:r>
          </a:p>
          <a:p>
            <a:pPr marL="604521" lvl="1" indent="-302261" algn="l">
              <a:lnSpc>
                <a:spcPct val="200000"/>
              </a:lnSpc>
              <a:buFont typeface="Arial"/>
              <a:buChar char="•"/>
            </a:pPr>
            <a:r>
              <a:rPr lang="en-US" sz="2800" dirty="0">
                <a:solidFill>
                  <a:srgbClr val="000000"/>
                </a:solidFill>
                <a:latin typeface="Helios"/>
                <a:ea typeface="Helios"/>
                <a:cs typeface="Helios"/>
                <a:sym typeface="Helios"/>
              </a:rPr>
              <a:t>Conclusion</a:t>
            </a:r>
          </a:p>
          <a:p>
            <a:pPr marL="604521" lvl="1" indent="-302261" algn="l">
              <a:lnSpc>
                <a:spcPct val="200000"/>
              </a:lnSpc>
              <a:buFont typeface="Arial"/>
              <a:buChar char="•"/>
            </a:pPr>
            <a:r>
              <a:rPr lang="en-US" sz="2800" dirty="0">
                <a:solidFill>
                  <a:srgbClr val="000000"/>
                </a:solidFill>
                <a:latin typeface="Helios"/>
                <a:ea typeface="Helios"/>
                <a:cs typeface="Helios"/>
                <a:sym typeface="Helios"/>
              </a:rPr>
              <a:t>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59409" y="674333"/>
            <a:ext cx="6568804" cy="1000274"/>
          </a:xfrm>
          <a:prstGeom prst="rect">
            <a:avLst/>
          </a:prstGeom>
        </p:spPr>
        <p:txBody>
          <a:bodyPr wrap="square" lIns="0" tIns="0" rIns="0" bIns="0" rtlCol="0" anchor="t">
            <a:spAutoFit/>
          </a:bodyPr>
          <a:lstStyle/>
          <a:p>
            <a:pPr marL="0" lvl="0" indent="0" algn="l">
              <a:lnSpc>
                <a:spcPts val="7800"/>
              </a:lnSpc>
              <a:spcBef>
                <a:spcPct val="0"/>
              </a:spcBef>
            </a:pPr>
            <a:r>
              <a:rPr lang="en-US" sz="6500" dirty="0">
                <a:solidFill>
                  <a:srgbClr val="27296D"/>
                </a:solidFill>
                <a:latin typeface="Helios Bold"/>
                <a:ea typeface="Helios Bold"/>
                <a:cs typeface="Helios Bold"/>
                <a:sym typeface="Helios Bold"/>
              </a:rPr>
              <a:t> Introduction</a:t>
            </a:r>
          </a:p>
        </p:txBody>
      </p:sp>
      <p:sp>
        <p:nvSpPr>
          <p:cNvPr id="4" name="TextBox 4"/>
          <p:cNvSpPr txBox="1"/>
          <p:nvPr/>
        </p:nvSpPr>
        <p:spPr>
          <a:xfrm>
            <a:off x="457200" y="2209034"/>
            <a:ext cx="17830800" cy="6559168"/>
          </a:xfrm>
          <a:prstGeom prst="rect">
            <a:avLst/>
          </a:prstGeom>
        </p:spPr>
        <p:txBody>
          <a:bodyPr wrap="square" lIns="0" tIns="0" rIns="0" bIns="0" rtlCol="0" anchor="t">
            <a:spAutoFit/>
          </a:bodyPr>
          <a:lstStyle/>
          <a:p>
            <a:pPr marL="571500" lvl="0" indent="-571500">
              <a:lnSpc>
                <a:spcPct val="150000"/>
              </a:lnSpc>
              <a:buFont typeface="Arial" panose="020B0604020202020204" pitchFamily="34" charset="0"/>
              <a:buChar char="•"/>
            </a:pPr>
            <a:r>
              <a:rPr lang="en-US" sz="3600" dirty="0"/>
              <a:t>The Exam Management System is a computerized application designed to manage and organize all examination-related activities such as scheduling exams, assigning rooms, maintaining records, and publishing results in an efficient way.</a:t>
            </a:r>
          </a:p>
          <a:p>
            <a:pPr marL="571500" lvl="0" indent="-571500">
              <a:lnSpc>
                <a:spcPct val="150000"/>
              </a:lnSpc>
              <a:buFont typeface="Arial" panose="020B0604020202020204" pitchFamily="34" charset="0"/>
              <a:buChar char="•"/>
            </a:pPr>
            <a:r>
              <a:rPr lang="en-US" sz="3600" dirty="0"/>
              <a:t>The system provides different functionalities for students, teachers, and administrators i.e. students can view schedules and results, teachers can upload questions and enter marks, and admins manage records and user authentication</a:t>
            </a:r>
          </a:p>
          <a:p>
            <a:pPr marL="571500" lvl="0" indent="-571500">
              <a:lnSpc>
                <a:spcPct val="150000"/>
              </a:lnSpc>
              <a:buFont typeface="Arial" panose="020B0604020202020204" pitchFamily="34" charset="0"/>
              <a:buChar char="•"/>
            </a:pPr>
            <a:r>
              <a:rPr lang="en-US" sz="3600" dirty="0"/>
              <a:t>It reduces manual work, minimizes errors, improves accuracy, and makes the examination process more systematic, secure, and efficient within an educational institution.</a:t>
            </a:r>
            <a:endParaRPr lang="en-US" sz="3600" dirty="0">
              <a:latin typeface="Times New Roman" panose="02020603050405020304" pitchFamily="18" charset="0"/>
              <a:cs typeface="Times New Roman" panose="02020603050405020304" pitchFamily="18" charset="0"/>
            </a:endParaRP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45962" y="803895"/>
            <a:ext cx="9921604" cy="1000274"/>
          </a:xfrm>
          <a:prstGeom prst="rect">
            <a:avLst/>
          </a:prstGeom>
        </p:spPr>
        <p:txBody>
          <a:bodyPr wrap="square" lIns="0" tIns="0" rIns="0" bIns="0" rtlCol="0" anchor="t">
            <a:spAutoFit/>
          </a:bodyPr>
          <a:lstStyle/>
          <a:p>
            <a:pPr marL="0" lvl="0" indent="0" algn="ctr">
              <a:lnSpc>
                <a:spcPts val="7800"/>
              </a:lnSpc>
              <a:spcBef>
                <a:spcPct val="0"/>
              </a:spcBef>
            </a:pPr>
            <a:r>
              <a:rPr lang="en-US" sz="6500" dirty="0">
                <a:solidFill>
                  <a:srgbClr val="27296D"/>
                </a:solidFill>
                <a:latin typeface="Helios Bold"/>
                <a:ea typeface="Helios Bold"/>
                <a:cs typeface="Helios Bold"/>
                <a:sym typeface="Helios Bold"/>
              </a:rPr>
              <a:t>Problem Statement</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4"/>
          <p:cNvSpPr txBox="1"/>
          <p:nvPr/>
        </p:nvSpPr>
        <p:spPr>
          <a:xfrm>
            <a:off x="533400" y="2400300"/>
            <a:ext cx="17907000" cy="4069127"/>
          </a:xfrm>
          <a:prstGeom prst="rect">
            <a:avLst/>
          </a:prstGeom>
        </p:spPr>
        <p:txBody>
          <a:bodyPr wrap="square" lIns="0" tIns="0" rIns="0" bIns="0" rtlCol="0" anchor="t">
            <a:spAutoFit/>
          </a:bodyPr>
          <a:lstStyle/>
          <a:p>
            <a:pPr marL="285750" lvl="0" indent="-285750">
              <a:lnSpc>
                <a:spcPct val="150000"/>
              </a:lnSpc>
              <a:buFont typeface="Arial" panose="020B0604020202020204" pitchFamily="34" charset="0"/>
              <a:buChar char="•"/>
            </a:pPr>
            <a:r>
              <a:rPr lang="en-US" sz="3600" dirty="0"/>
              <a:t>Managing exam schedules, room assignments, and records manually takes a lot of time and effort.</a:t>
            </a:r>
          </a:p>
          <a:p>
            <a:pPr marL="285750" lvl="0" indent="-285750">
              <a:lnSpc>
                <a:spcPct val="150000"/>
              </a:lnSpc>
              <a:buFont typeface="Arial" panose="020B0604020202020204" pitchFamily="34" charset="0"/>
              <a:buChar char="•"/>
            </a:pPr>
            <a:r>
              <a:rPr lang="en-US" sz="3600" dirty="0"/>
              <a:t>Manual data handling can lead to errors in marks and result preparation.</a:t>
            </a:r>
          </a:p>
          <a:p>
            <a:pPr marL="285750" lvl="0" indent="-285750">
              <a:lnSpc>
                <a:spcPct val="150000"/>
              </a:lnSpc>
              <a:buFont typeface="Arial" panose="020B0604020202020204" pitchFamily="34" charset="0"/>
              <a:buChar char="•"/>
            </a:pPr>
            <a:r>
              <a:rPr lang="en-US" sz="3600" dirty="0"/>
              <a:t>Students face difficulty in getting timely exam information.</a:t>
            </a:r>
          </a:p>
          <a:p>
            <a:pPr marL="285750" lvl="0" indent="-285750">
              <a:lnSpc>
                <a:spcPct val="150000"/>
              </a:lnSpc>
              <a:buFont typeface="Arial" panose="020B0604020202020204" pitchFamily="34" charset="0"/>
              <a:buChar char="•"/>
            </a:pPr>
            <a:r>
              <a:rPr lang="en-US" sz="3600" dirty="0"/>
              <a:t>Managing large amounts of examination data manually becomes complex and unorganized.</a:t>
            </a:r>
          </a:p>
        </p:txBody>
      </p:sp>
    </p:spTree>
    <p:extLst>
      <p:ext uri="{BB962C8B-B14F-4D97-AF65-F5344CB8AC3E}">
        <p14:creationId xmlns:p14="http://schemas.microsoft.com/office/powerpoint/2010/main" val="672857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81954" y="822426"/>
            <a:ext cx="9921604" cy="1000274"/>
          </a:xfrm>
          <a:prstGeom prst="rect">
            <a:avLst/>
          </a:prstGeom>
        </p:spPr>
        <p:txBody>
          <a:bodyPr wrap="square" lIns="0" tIns="0" rIns="0" bIns="0" rtlCol="0" anchor="t">
            <a:spAutoFit/>
          </a:bodyPr>
          <a:lstStyle/>
          <a:p>
            <a:pPr marL="0" lvl="0" indent="0" algn="ctr">
              <a:lnSpc>
                <a:spcPts val="7800"/>
              </a:lnSpc>
              <a:spcBef>
                <a:spcPct val="0"/>
              </a:spcBef>
            </a:pPr>
            <a:r>
              <a:rPr lang="en-US" sz="6500" dirty="0">
                <a:solidFill>
                  <a:srgbClr val="27296D"/>
                </a:solidFill>
                <a:latin typeface="Helios Bold"/>
                <a:ea typeface="Helios Bold"/>
                <a:cs typeface="Helios Bold"/>
                <a:sym typeface="Helios Bold"/>
              </a:rPr>
              <a:t>Objectives</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4"/>
          <p:cNvSpPr txBox="1"/>
          <p:nvPr/>
        </p:nvSpPr>
        <p:spPr>
          <a:xfrm>
            <a:off x="685800" y="2705100"/>
            <a:ext cx="15568016" cy="6466835"/>
          </a:xfrm>
          <a:prstGeom prst="rect">
            <a:avLst/>
          </a:prstGeom>
        </p:spPr>
        <p:txBody>
          <a:bodyPr wrap="square" lIns="0" tIns="0" rIns="0" bIns="0" rtlCol="0" anchor="t">
            <a:spAutoFit/>
          </a:bodyPr>
          <a:lstStyle/>
          <a:p>
            <a:pPr>
              <a:lnSpc>
                <a:spcPct val="150000"/>
              </a:lnSpc>
            </a:pPr>
            <a:endParaRPr lang="en-US" sz="3200" b="1" dirty="0">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develop a computerized system for managing examination activities efficiently.</a:t>
            </a:r>
          </a:p>
          <a:p>
            <a:pPr marL="457200" indent="-457200">
              <a:lnSpc>
                <a:spcPct val="150000"/>
              </a:lnSpc>
              <a:buFont typeface="Arial" panose="020B0604020202020204" pitchFamily="34" charset="0"/>
              <a:buChar char="•"/>
            </a:pPr>
            <a:r>
              <a:rPr lang="en-US" sz="3600" dirty="0"/>
              <a:t>To provide students with easy access to exam schedules, room numbers, and results.</a:t>
            </a:r>
          </a:p>
          <a:p>
            <a:pPr marL="457200" indent="-457200">
              <a:lnSpc>
                <a:spcPct val="150000"/>
              </a:lnSpc>
              <a:buFont typeface="Arial" panose="020B0604020202020204" pitchFamily="34" charset="0"/>
              <a:buChar char="•"/>
            </a:pPr>
            <a:r>
              <a:rPr lang="en-US" sz="3600" dirty="0"/>
              <a:t>To enable teachers to upload questions and manage students’ marks systematically.</a:t>
            </a:r>
          </a:p>
          <a:p>
            <a:pPr marL="457200" indent="-457200">
              <a:lnSpc>
                <a:spcPct val="150000"/>
              </a:lnSpc>
              <a:buFont typeface="Arial" panose="020B0604020202020204" pitchFamily="34" charset="0"/>
              <a:buChar char="•"/>
            </a:pPr>
            <a:r>
              <a:rPr lang="en-US" sz="3600" dirty="0"/>
              <a:t>To reduce manual work and improve accuracy in exam data management.</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4091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18530" y="952500"/>
            <a:ext cx="9921604" cy="1000274"/>
          </a:xfrm>
          <a:prstGeom prst="rect">
            <a:avLst/>
          </a:prstGeom>
        </p:spPr>
        <p:txBody>
          <a:bodyPr wrap="square" lIns="0" tIns="0" rIns="0" bIns="0" rtlCol="0" anchor="t">
            <a:spAutoFit/>
          </a:bodyPr>
          <a:lstStyle/>
          <a:p>
            <a:pPr marL="0" lvl="0" indent="0" algn="ctr">
              <a:lnSpc>
                <a:spcPts val="7800"/>
              </a:lnSpc>
              <a:spcBef>
                <a:spcPct val="0"/>
              </a:spcBef>
            </a:pPr>
            <a:r>
              <a:rPr lang="en-US" sz="6500" dirty="0">
                <a:solidFill>
                  <a:srgbClr val="27296D"/>
                </a:solidFill>
                <a:latin typeface="Helios Bold"/>
                <a:ea typeface="Helios Bold"/>
                <a:cs typeface="Helios Bold"/>
                <a:sym typeface="Helios Bold"/>
              </a:rPr>
              <a:t>Scope and Limitation</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4"/>
          <p:cNvSpPr txBox="1"/>
          <p:nvPr/>
        </p:nvSpPr>
        <p:spPr>
          <a:xfrm>
            <a:off x="1832938" y="2046114"/>
            <a:ext cx="14622120" cy="7051930"/>
          </a:xfrm>
          <a:prstGeom prst="rect">
            <a:avLst/>
          </a:prstGeom>
        </p:spPr>
        <p:txBody>
          <a:bodyPr lIns="0" tIns="0" rIns="0" bIns="0" rtlCol="0" anchor="t">
            <a:spAutoFit/>
          </a:bodyPr>
          <a:lstStyle/>
          <a:p>
            <a:pPr>
              <a:lnSpc>
                <a:spcPct val="150000"/>
              </a:lnSpc>
            </a:pPr>
            <a:r>
              <a:rPr lang="en-US" sz="3200" b="1" dirty="0">
                <a:latin typeface="Times New Roman" panose="02020603050405020304" pitchFamily="18" charset="0"/>
                <a:cs typeface="Times New Roman" panose="02020603050405020304" pitchFamily="18" charset="0"/>
              </a:rPr>
              <a:t>Scope</a:t>
            </a: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a:t>Students can view exam schedule, room number, and results</a:t>
            </a:r>
          </a:p>
          <a:p>
            <a:pPr marL="285750" indent="-285750">
              <a:buFont typeface="Arial" panose="020B0604020202020204" pitchFamily="34" charset="0"/>
              <a:buChar char="•"/>
            </a:pPr>
            <a:r>
              <a:rPr lang="en-US" sz="3200" dirty="0"/>
              <a:t>Teachers can upload questions and add students’ marks.</a:t>
            </a:r>
          </a:p>
          <a:p>
            <a:pPr marL="285750" lvl="0" indent="-285750">
              <a:buFont typeface="Arial" panose="020B0604020202020204" pitchFamily="34" charset="0"/>
              <a:buChar char="•"/>
            </a:pPr>
            <a:r>
              <a:rPr lang="en-US" sz="3200" dirty="0"/>
              <a:t>Admin can manage student and teacher records.</a:t>
            </a:r>
          </a:p>
          <a:p>
            <a:pPr marL="285750" lvl="0" indent="-285750">
              <a:buFont typeface="Arial" panose="020B0604020202020204" pitchFamily="34" charset="0"/>
              <a:buChar char="•"/>
            </a:pPr>
            <a:r>
              <a:rPr lang="en-US" sz="3200" dirty="0"/>
              <a:t>Admin can approve authenticated login for users.</a:t>
            </a:r>
          </a:p>
          <a:p>
            <a:pPr marL="285750" lvl="0" indent="-285750">
              <a:buFont typeface="Arial" panose="020B0604020202020204" pitchFamily="34" charset="0"/>
              <a:buChar char="•"/>
            </a:pPr>
            <a:r>
              <a:rPr lang="en-US" sz="3200" dirty="0"/>
              <a:t>The system helps organize and manage exam data efficiently</a:t>
            </a:r>
            <a:r>
              <a:rPr lang="en-US" dirty="0"/>
              <a:t>.</a:t>
            </a:r>
            <a:endParaRPr lang="en-US" sz="3200" b="1" dirty="0">
              <a:latin typeface="Times New Roman" panose="02020603050405020304" pitchFamily="18" charset="0"/>
              <a:cs typeface="Times New Roman" panose="02020603050405020304" pitchFamily="18" charset="0"/>
            </a:endParaRPr>
          </a:p>
          <a:p>
            <a:pPr lvl="0">
              <a:lnSpc>
                <a:spcPct val="150000"/>
              </a:lnSpc>
            </a:pPr>
            <a:r>
              <a:rPr lang="en-US" sz="3200" b="1" dirty="0">
                <a:latin typeface="Times New Roman" panose="02020603050405020304" pitchFamily="18" charset="0"/>
                <a:cs typeface="Times New Roman" panose="02020603050405020304" pitchFamily="18" charset="0"/>
              </a:rPr>
              <a:t>Limitations</a:t>
            </a:r>
            <a:endParaRPr lang="en-US" sz="32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3200" dirty="0"/>
              <a:t>The system works only offline.</a:t>
            </a:r>
          </a:p>
          <a:p>
            <a:pPr marL="285750" lvl="0" indent="-285750">
              <a:buFont typeface="Arial" panose="020B0604020202020204" pitchFamily="34" charset="0"/>
              <a:buChar char="•"/>
            </a:pPr>
            <a:r>
              <a:rPr lang="en-US" sz="3200" dirty="0"/>
              <a:t>Access is limited to authorized users.</a:t>
            </a:r>
          </a:p>
          <a:p>
            <a:pPr marL="285750" lvl="0" indent="-285750">
              <a:buFont typeface="Arial" panose="020B0604020202020204" pitchFamily="34" charset="0"/>
              <a:buChar char="•"/>
            </a:pPr>
            <a:r>
              <a:rPr lang="en-US" sz="3200" dirty="0"/>
              <a:t>Data is stored locally, so backup is required.</a:t>
            </a:r>
          </a:p>
          <a:p>
            <a:pPr marL="285750" lvl="0" indent="-285750">
              <a:buFont typeface="Arial" panose="020B0604020202020204" pitchFamily="34" charset="0"/>
              <a:buChar char="•"/>
            </a:pPr>
            <a:r>
              <a:rPr lang="en-US" sz="3200" dirty="0"/>
              <a:t>The system supports only basic exam management functions.</a:t>
            </a:r>
          </a:p>
          <a:p>
            <a:pPr marL="285750" lvl="0" indent="-285750">
              <a:buFont typeface="Arial" panose="020B0604020202020204" pitchFamily="34" charset="0"/>
              <a:buChar char="•"/>
            </a:pPr>
            <a:r>
              <a:rPr lang="en-US" sz="3200" dirty="0"/>
              <a:t>Technical maintenance may be required.</a:t>
            </a:r>
          </a:p>
          <a:p>
            <a:pPr marL="755647" lvl="1" indent="-377824" algn="l">
              <a:lnSpc>
                <a:spcPct val="150000"/>
              </a:lnSpc>
              <a:buFont typeface="Arial"/>
              <a:buChar char="•"/>
            </a:pPr>
            <a:endParaRPr lang="en-US" sz="3200" dirty="0">
              <a:solidFill>
                <a:srgbClr val="000000"/>
              </a:solidFill>
              <a:latin typeface="Times New Roman" panose="02020603050405020304" pitchFamily="18" charset="0"/>
              <a:ea typeface="Helios"/>
              <a:cs typeface="Times New Roman" panose="02020603050405020304" pitchFamily="18" charset="0"/>
              <a:sym typeface="Helios"/>
            </a:endParaRPr>
          </a:p>
        </p:txBody>
      </p:sp>
    </p:spTree>
    <p:extLst>
      <p:ext uri="{BB962C8B-B14F-4D97-AF65-F5344CB8AC3E}">
        <p14:creationId xmlns:p14="http://schemas.microsoft.com/office/powerpoint/2010/main" val="2802351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614A9FC5-7358-797C-34FE-811C46D9A8C9}"/>
              </a:ext>
            </a:extLst>
          </p:cNvPr>
          <p:cNvGrpSpPr/>
          <p:nvPr/>
        </p:nvGrpSpPr>
        <p:grpSpPr>
          <a:xfrm>
            <a:off x="0" y="9612633"/>
            <a:ext cx="18288000" cy="514104"/>
            <a:chOff x="0" y="0"/>
            <a:chExt cx="4816593" cy="135402"/>
          </a:xfrm>
        </p:grpSpPr>
        <p:sp>
          <p:nvSpPr>
            <p:cNvPr id="3" name="Freeform 6">
              <a:extLst>
                <a:ext uri="{FF2B5EF4-FFF2-40B4-BE49-F238E27FC236}">
                  <a16:creationId xmlns:a16="http://schemas.microsoft.com/office/drawing/2014/main" id="{9C63520F-FED0-C3BC-04BD-F18829A35DAD}"/>
                </a:ext>
              </a:extLst>
            </p:cNvPr>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4" name="TextBox 7">
              <a:extLst>
                <a:ext uri="{FF2B5EF4-FFF2-40B4-BE49-F238E27FC236}">
                  <a16:creationId xmlns:a16="http://schemas.microsoft.com/office/drawing/2014/main" id="{0D123D2E-66E7-E8DB-4D73-29F8BCC7C5D0}"/>
                </a:ext>
              </a:extLst>
            </p:cNvPr>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5" name="Group 14">
            <a:extLst>
              <a:ext uri="{FF2B5EF4-FFF2-40B4-BE49-F238E27FC236}">
                <a16:creationId xmlns:a16="http://schemas.microsoft.com/office/drawing/2014/main" id="{65EB4F2D-A3BA-70D6-172F-77CBAC4BFD72}"/>
              </a:ext>
            </a:extLst>
          </p:cNvPr>
          <p:cNvGrpSpPr/>
          <p:nvPr/>
        </p:nvGrpSpPr>
        <p:grpSpPr>
          <a:xfrm>
            <a:off x="-837475" y="-598666"/>
            <a:ext cx="2480865" cy="2401475"/>
            <a:chOff x="0" y="0"/>
            <a:chExt cx="5668058" cy="5486674"/>
          </a:xfrm>
        </p:grpSpPr>
        <p:sp>
          <p:nvSpPr>
            <p:cNvPr id="6" name="Freeform 15">
              <a:extLst>
                <a:ext uri="{FF2B5EF4-FFF2-40B4-BE49-F238E27FC236}">
                  <a16:creationId xmlns:a16="http://schemas.microsoft.com/office/drawing/2014/main" id="{74F26A7A-D4D3-CD22-9E60-57D2B397F85C}"/>
                </a:ext>
              </a:extLst>
            </p:cNvPr>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grpSp>
        <p:nvGrpSpPr>
          <p:cNvPr id="7" name="Group 12">
            <a:extLst>
              <a:ext uri="{FF2B5EF4-FFF2-40B4-BE49-F238E27FC236}">
                <a16:creationId xmlns:a16="http://schemas.microsoft.com/office/drawing/2014/main" id="{5D5ED8E7-4243-9F4B-571E-FD37D629E7B8}"/>
              </a:ext>
            </a:extLst>
          </p:cNvPr>
          <p:cNvGrpSpPr/>
          <p:nvPr/>
        </p:nvGrpSpPr>
        <p:grpSpPr>
          <a:xfrm>
            <a:off x="8825724" y="9368913"/>
            <a:ext cx="807474" cy="807474"/>
            <a:chOff x="0" y="0"/>
            <a:chExt cx="5256000" cy="5256000"/>
          </a:xfrm>
        </p:grpSpPr>
        <p:sp>
          <p:nvSpPr>
            <p:cNvPr id="8" name="Freeform 13">
              <a:extLst>
                <a:ext uri="{FF2B5EF4-FFF2-40B4-BE49-F238E27FC236}">
                  <a16:creationId xmlns:a16="http://schemas.microsoft.com/office/drawing/2014/main" id="{E0E82F78-3479-3C2E-1D5E-07610DCC905C}"/>
                </a:ext>
              </a:extLst>
            </p:cNvPr>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sp>
        <p:nvSpPr>
          <p:cNvPr id="11" name="Title 10">
            <a:extLst>
              <a:ext uri="{FF2B5EF4-FFF2-40B4-BE49-F238E27FC236}">
                <a16:creationId xmlns:a16="http://schemas.microsoft.com/office/drawing/2014/main" id="{0D79551B-85DB-9711-0455-2ACA4CBD4F21}"/>
              </a:ext>
            </a:extLst>
          </p:cNvPr>
          <p:cNvSpPr>
            <a:spLocks noGrp="1"/>
          </p:cNvSpPr>
          <p:nvPr>
            <p:ph type="title"/>
          </p:nvPr>
        </p:nvSpPr>
        <p:spPr>
          <a:xfrm>
            <a:off x="4419600" y="160263"/>
            <a:ext cx="10439400" cy="1143000"/>
          </a:xfrm>
        </p:spPr>
        <p:txBody>
          <a:bodyPr>
            <a:normAutofit/>
          </a:bodyPr>
          <a:lstStyle/>
          <a:p>
            <a:r>
              <a:rPr lang="en-US" b="1" dirty="0"/>
              <a:t>System Architecture</a:t>
            </a:r>
          </a:p>
        </p:txBody>
      </p:sp>
      <p:pic>
        <p:nvPicPr>
          <p:cNvPr id="12" name="Picture 11">
            <a:extLst>
              <a:ext uri="{FF2B5EF4-FFF2-40B4-BE49-F238E27FC236}">
                <a16:creationId xmlns:a16="http://schemas.microsoft.com/office/drawing/2014/main" id="{CC9AE5D3-1897-5517-499C-3B01D9319F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43832" y="952500"/>
            <a:ext cx="11692498" cy="7794176"/>
          </a:xfrm>
          <a:prstGeom prst="rect">
            <a:avLst/>
          </a:prstGeom>
        </p:spPr>
      </p:pic>
    </p:spTree>
    <p:extLst>
      <p:ext uri="{BB962C8B-B14F-4D97-AF65-F5344CB8AC3E}">
        <p14:creationId xmlns:p14="http://schemas.microsoft.com/office/powerpoint/2010/main" val="2295885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18530" y="952500"/>
            <a:ext cx="9921604" cy="1000274"/>
          </a:xfrm>
          <a:prstGeom prst="rect">
            <a:avLst/>
          </a:prstGeom>
        </p:spPr>
        <p:txBody>
          <a:bodyPr wrap="square" lIns="0" tIns="0" rIns="0" bIns="0" rtlCol="0" anchor="t">
            <a:spAutoFit/>
          </a:bodyPr>
          <a:lstStyle/>
          <a:p>
            <a:pPr marL="0" lvl="0" indent="0" algn="ctr">
              <a:lnSpc>
                <a:spcPts val="7800"/>
              </a:lnSpc>
              <a:spcBef>
                <a:spcPct val="0"/>
              </a:spcBef>
            </a:pPr>
            <a:r>
              <a:rPr lang="en-US" sz="6500" dirty="0">
                <a:solidFill>
                  <a:srgbClr val="27296D"/>
                </a:solidFill>
                <a:latin typeface="Helios Bold"/>
                <a:ea typeface="Helios Bold"/>
                <a:cs typeface="Helios Bold"/>
                <a:sym typeface="Helios Bold"/>
              </a:rPr>
              <a:t>Methodology</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8" name="TextBox 4"/>
          <p:cNvSpPr txBox="1"/>
          <p:nvPr/>
        </p:nvSpPr>
        <p:spPr>
          <a:xfrm>
            <a:off x="1668272" y="8304681"/>
            <a:ext cx="14622120" cy="584647"/>
          </a:xfrm>
          <a:prstGeom prst="rect">
            <a:avLst/>
          </a:prstGeom>
        </p:spPr>
        <p:txBody>
          <a:bodyPr lIns="0" tIns="0" rIns="0" bIns="0" rtlCol="0" anchor="t">
            <a:spAutoFit/>
          </a:bodyPr>
          <a:lstStyle/>
          <a:p>
            <a:pPr marL="377823" lvl="1" algn="ctr">
              <a:lnSpc>
                <a:spcPts val="5249"/>
              </a:lnSpc>
            </a:pPr>
            <a:r>
              <a:rPr lang="en-US" sz="3000" dirty="0">
                <a:solidFill>
                  <a:srgbClr val="000000"/>
                </a:solidFill>
                <a:latin typeface="Helios"/>
                <a:ea typeface="Helios"/>
                <a:cs typeface="Helios"/>
                <a:sym typeface="Helios"/>
              </a:rPr>
              <a:t>Figure: Waterfall Model of Exam Management System</a:t>
            </a:r>
            <a:endParaRPr lang="en-US" sz="3499" dirty="0">
              <a:solidFill>
                <a:srgbClr val="000000"/>
              </a:solidFill>
              <a:latin typeface="Helios"/>
              <a:ea typeface="Helios"/>
              <a:cs typeface="Helios"/>
              <a:sym typeface="Helios"/>
            </a:endParaRPr>
          </a:p>
        </p:txBody>
      </p:sp>
      <p:pic>
        <p:nvPicPr>
          <p:cNvPr id="3" name="Image 7">
            <a:extLst>
              <a:ext uri="{FF2B5EF4-FFF2-40B4-BE49-F238E27FC236}">
                <a16:creationId xmlns:a16="http://schemas.microsoft.com/office/drawing/2014/main" id="{4222A46A-4040-BFAB-99D4-957BCDD56C5E}"/>
              </a:ext>
            </a:extLst>
          </p:cNvPr>
          <p:cNvPicPr>
            <a:picLocks/>
          </p:cNvPicPr>
          <p:nvPr/>
        </p:nvPicPr>
        <p:blipFill>
          <a:blip r:embed="rId3" cstate="print"/>
          <a:stretch>
            <a:fillRect/>
          </a:stretch>
        </p:blipFill>
        <p:spPr>
          <a:xfrm>
            <a:off x="2743200" y="2628901"/>
            <a:ext cx="12420600" cy="5306800"/>
          </a:xfrm>
          <a:prstGeom prst="rect">
            <a:avLst/>
          </a:prstGeom>
        </p:spPr>
      </p:pic>
    </p:spTree>
    <p:extLst>
      <p:ext uri="{BB962C8B-B14F-4D97-AF65-F5344CB8AC3E}">
        <p14:creationId xmlns:p14="http://schemas.microsoft.com/office/powerpoint/2010/main" val="1463927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18530" y="952500"/>
            <a:ext cx="9921604" cy="1000274"/>
          </a:xfrm>
          <a:prstGeom prst="rect">
            <a:avLst/>
          </a:prstGeom>
        </p:spPr>
        <p:txBody>
          <a:bodyPr wrap="square" lIns="0" tIns="0" rIns="0" bIns="0" rtlCol="0" anchor="t">
            <a:spAutoFit/>
          </a:bodyPr>
          <a:lstStyle/>
          <a:p>
            <a:pPr marL="0" lvl="0" indent="0" algn="ctr">
              <a:lnSpc>
                <a:spcPts val="7800"/>
              </a:lnSpc>
              <a:spcBef>
                <a:spcPct val="0"/>
              </a:spcBef>
            </a:pPr>
            <a:r>
              <a:rPr lang="en-US" sz="6500" dirty="0">
                <a:solidFill>
                  <a:srgbClr val="27296D"/>
                </a:solidFill>
                <a:latin typeface="Helios Bold"/>
                <a:ea typeface="Helios Bold"/>
                <a:cs typeface="Helios Bold"/>
                <a:sym typeface="Helios Bold"/>
              </a:rPr>
              <a:t>Gantt Chart</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8" name="TextBox 4"/>
          <p:cNvSpPr txBox="1"/>
          <p:nvPr/>
        </p:nvSpPr>
        <p:spPr>
          <a:xfrm>
            <a:off x="1668272" y="8304681"/>
            <a:ext cx="14622120" cy="584647"/>
          </a:xfrm>
          <a:prstGeom prst="rect">
            <a:avLst/>
          </a:prstGeom>
        </p:spPr>
        <p:txBody>
          <a:bodyPr lIns="0" tIns="0" rIns="0" bIns="0" rtlCol="0" anchor="t">
            <a:spAutoFit/>
          </a:bodyPr>
          <a:lstStyle/>
          <a:p>
            <a:pPr marL="377823" lvl="1" algn="ctr">
              <a:lnSpc>
                <a:spcPts val="5249"/>
              </a:lnSpc>
            </a:pPr>
            <a:r>
              <a:rPr lang="en-US" sz="3000" dirty="0">
                <a:solidFill>
                  <a:srgbClr val="000000"/>
                </a:solidFill>
                <a:latin typeface="Helios"/>
                <a:ea typeface="Helios"/>
                <a:cs typeface="Helios"/>
                <a:sym typeface="Helios"/>
              </a:rPr>
              <a:t>Figure: Gantt Chart of Exam Management System</a:t>
            </a:r>
            <a:endParaRPr lang="en-US" sz="3499" dirty="0">
              <a:solidFill>
                <a:srgbClr val="000000"/>
              </a:solidFill>
              <a:latin typeface="Helios"/>
              <a:ea typeface="Helios"/>
              <a:cs typeface="Helios"/>
              <a:sym typeface="Helios"/>
            </a:endParaRPr>
          </a:p>
        </p:txBody>
      </p:sp>
      <p:pic>
        <p:nvPicPr>
          <p:cNvPr id="3" name="Image 8">
            <a:extLst>
              <a:ext uri="{FF2B5EF4-FFF2-40B4-BE49-F238E27FC236}">
                <a16:creationId xmlns:a16="http://schemas.microsoft.com/office/drawing/2014/main" id="{D1448788-4F18-8D17-893A-89D0193BF66B}"/>
              </a:ext>
            </a:extLst>
          </p:cNvPr>
          <p:cNvPicPr>
            <a:picLocks/>
          </p:cNvPicPr>
          <p:nvPr/>
        </p:nvPicPr>
        <p:blipFill>
          <a:blip r:embed="rId3" cstate="print"/>
          <a:stretch>
            <a:fillRect/>
          </a:stretch>
        </p:blipFill>
        <p:spPr>
          <a:xfrm>
            <a:off x="3048000" y="2644413"/>
            <a:ext cx="10892134" cy="5604813"/>
          </a:xfrm>
          <a:prstGeom prst="rect">
            <a:avLst/>
          </a:prstGeom>
        </p:spPr>
      </p:pic>
    </p:spTree>
    <p:extLst>
      <p:ext uri="{BB962C8B-B14F-4D97-AF65-F5344CB8AC3E}">
        <p14:creationId xmlns:p14="http://schemas.microsoft.com/office/powerpoint/2010/main" val="3911049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38600" y="495300"/>
            <a:ext cx="9921604" cy="1000274"/>
          </a:xfrm>
          <a:prstGeom prst="rect">
            <a:avLst/>
          </a:prstGeom>
        </p:spPr>
        <p:txBody>
          <a:bodyPr wrap="square" lIns="0" tIns="0" rIns="0" bIns="0" rtlCol="0" anchor="t">
            <a:spAutoFit/>
          </a:bodyPr>
          <a:lstStyle/>
          <a:p>
            <a:pPr marL="0" lvl="0" indent="0" algn="ctr">
              <a:lnSpc>
                <a:spcPts val="7800"/>
              </a:lnSpc>
              <a:spcBef>
                <a:spcPct val="0"/>
              </a:spcBef>
            </a:pPr>
            <a:r>
              <a:rPr lang="en-US" sz="6500" dirty="0">
                <a:solidFill>
                  <a:srgbClr val="27296D"/>
                </a:solidFill>
                <a:latin typeface="Helios Bold"/>
                <a:ea typeface="Helios Bold"/>
                <a:cs typeface="Helios Bold"/>
                <a:sym typeface="Helios Bold"/>
              </a:rPr>
              <a:t>Requirement Analysis</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4"/>
          <p:cNvSpPr txBox="1"/>
          <p:nvPr/>
        </p:nvSpPr>
        <p:spPr>
          <a:xfrm>
            <a:off x="990600" y="2399975"/>
            <a:ext cx="19362928" cy="7068473"/>
          </a:xfrm>
          <a:prstGeom prst="rect">
            <a:avLst/>
          </a:prstGeom>
        </p:spPr>
        <p:txBody>
          <a:bodyPr wrap="square" lIns="0" tIns="0" rIns="0" bIns="0" rtlCol="0" anchor="t">
            <a:spAutoFit/>
          </a:bodyPr>
          <a:lstStyle/>
          <a:p>
            <a:pPr marL="377823" lvl="1">
              <a:lnSpc>
                <a:spcPts val="5249"/>
              </a:lnSpc>
            </a:pPr>
            <a:r>
              <a:rPr lang="en-US" sz="3000" b="1" dirty="0">
                <a:solidFill>
                  <a:srgbClr val="000000"/>
                </a:solidFill>
                <a:latin typeface="Helios"/>
                <a:ea typeface="Helios"/>
                <a:cs typeface="Helios"/>
                <a:sym typeface="Helios"/>
              </a:rPr>
              <a:t>Functional Requirement</a:t>
            </a:r>
          </a:p>
          <a:p>
            <a:pPr marL="835023" lvl="1" indent="-457200">
              <a:lnSpc>
                <a:spcPct val="150000"/>
              </a:lnSpc>
              <a:buFont typeface="Arial" panose="020B0604020202020204" pitchFamily="34" charset="0"/>
              <a:buChar char="•"/>
            </a:pPr>
            <a:r>
              <a:rPr lang="en-US" sz="3600" dirty="0"/>
              <a:t>Users can create accounts with secure and unique login credentials.</a:t>
            </a:r>
          </a:p>
          <a:p>
            <a:pPr marL="835023" lvl="1" indent="-457200">
              <a:lnSpc>
                <a:spcPct val="150000"/>
              </a:lnSpc>
              <a:buFont typeface="Arial" panose="020B0604020202020204" pitchFamily="34" charset="0"/>
              <a:buChar char="•"/>
            </a:pPr>
            <a:r>
              <a:rPr lang="en-US" sz="3600" dirty="0"/>
              <a:t>Registered users can log in to access the system.</a:t>
            </a:r>
          </a:p>
          <a:p>
            <a:pPr marL="835023" lvl="1" indent="-457200">
              <a:lnSpc>
                <a:spcPct val="150000"/>
              </a:lnSpc>
              <a:buFont typeface="Arial" panose="020B0604020202020204" pitchFamily="34" charset="0"/>
              <a:buChar char="•"/>
            </a:pPr>
            <a:r>
              <a:rPr lang="en-US" sz="3600" dirty="0"/>
              <a:t>Admin can manage exam related data such as </a:t>
            </a:r>
            <a:r>
              <a:rPr lang="en-US" sz="3600" dirty="0" err="1"/>
              <a:t>schedules,student</a:t>
            </a:r>
            <a:r>
              <a:rPr lang="en-US" sz="3600" dirty="0"/>
              <a:t> record  and result.</a:t>
            </a:r>
          </a:p>
          <a:p>
            <a:pPr marL="835023" lvl="1" indent="-457200">
              <a:lnSpc>
                <a:spcPct val="150000"/>
              </a:lnSpc>
              <a:buFont typeface="Arial" panose="020B0604020202020204" pitchFamily="34" charset="0"/>
              <a:buChar char="•"/>
            </a:pPr>
            <a:r>
              <a:rPr lang="en-US" sz="3600" dirty="0"/>
              <a:t>Teacher can upload questions and enter or update marks</a:t>
            </a:r>
          </a:p>
          <a:p>
            <a:pPr marL="835023" lvl="1" indent="-457200">
              <a:lnSpc>
                <a:spcPct val="150000"/>
              </a:lnSpc>
              <a:buFont typeface="Arial" panose="020B0604020202020204" pitchFamily="34" charset="0"/>
              <a:buChar char="•"/>
            </a:pPr>
            <a:r>
              <a:rPr lang="en-US" sz="3600" dirty="0"/>
              <a:t>Students can view exam schedules ,room numbers and results.</a:t>
            </a:r>
          </a:p>
          <a:p>
            <a:pPr marL="835023" lvl="1" indent="-457200">
              <a:lnSpc>
                <a:spcPct val="150000"/>
              </a:lnSpc>
              <a:buFont typeface="Arial" panose="020B0604020202020204" pitchFamily="34" charset="0"/>
              <a:buChar char="•"/>
            </a:pPr>
            <a:endParaRPr lang="en-US" sz="3600" dirty="0"/>
          </a:p>
          <a:p>
            <a:pPr marL="835023" lvl="1" indent="-457200">
              <a:lnSpc>
                <a:spcPct val="150000"/>
              </a:lnSpc>
              <a:buFont typeface="Arial" panose="020B0604020202020204" pitchFamily="34" charset="0"/>
              <a:buChar char="•"/>
            </a:pPr>
            <a:endParaRPr lang="en-US" sz="3600" b="1" dirty="0"/>
          </a:p>
          <a:p>
            <a:pPr marL="835023" lvl="1" indent="-457200">
              <a:lnSpc>
                <a:spcPts val="5249"/>
              </a:lnSpc>
              <a:buFont typeface="Arial" panose="020B0604020202020204" pitchFamily="34" charset="0"/>
              <a:buChar char="•"/>
            </a:pPr>
            <a:endParaRPr lang="en-US" sz="3000" b="1" dirty="0">
              <a:solidFill>
                <a:srgbClr val="000000"/>
              </a:solidFill>
              <a:latin typeface="Helios"/>
              <a:ea typeface="Helios"/>
              <a:cs typeface="Helios"/>
              <a:sym typeface="Helios"/>
            </a:endParaRPr>
          </a:p>
        </p:txBody>
      </p:sp>
    </p:spTree>
    <p:extLst>
      <p:ext uri="{BB962C8B-B14F-4D97-AF65-F5344CB8AC3E}">
        <p14:creationId xmlns:p14="http://schemas.microsoft.com/office/powerpoint/2010/main" val="4166373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4"/>
          <p:cNvSpPr txBox="1"/>
          <p:nvPr/>
        </p:nvSpPr>
        <p:spPr>
          <a:xfrm>
            <a:off x="1649984" y="1713706"/>
            <a:ext cx="14622120" cy="4731616"/>
          </a:xfrm>
          <a:prstGeom prst="rect">
            <a:avLst/>
          </a:prstGeom>
        </p:spPr>
        <p:txBody>
          <a:bodyPr lIns="0" tIns="0" rIns="0" bIns="0" rtlCol="0" anchor="t">
            <a:spAutoFit/>
          </a:bodyPr>
          <a:lstStyle/>
          <a:p>
            <a:pPr marL="377823" lvl="1">
              <a:lnSpc>
                <a:spcPts val="5249"/>
              </a:lnSpc>
            </a:pPr>
            <a:r>
              <a:rPr lang="en-US" sz="3000" b="1" dirty="0">
                <a:solidFill>
                  <a:srgbClr val="000000"/>
                </a:solidFill>
                <a:latin typeface="Helios"/>
                <a:ea typeface="Helios"/>
                <a:cs typeface="Helios"/>
                <a:sym typeface="Helios"/>
              </a:rPr>
              <a:t>Non-Functional Requirement</a:t>
            </a:r>
          </a:p>
          <a:p>
            <a:pPr marL="835023" lvl="1" indent="-457200">
              <a:lnSpc>
                <a:spcPct val="150000"/>
              </a:lnSpc>
              <a:buFont typeface="Arial" panose="020B0604020202020204" pitchFamily="34" charset="0"/>
              <a:buChar char="•"/>
            </a:pPr>
            <a:r>
              <a:rPr lang="en-US" sz="3600" dirty="0"/>
              <a:t>The system should respond quickly and efficiently to user actions.</a:t>
            </a:r>
            <a:endParaRPr lang="en-US" sz="3600" dirty="0">
              <a:solidFill>
                <a:srgbClr val="000000"/>
              </a:solidFill>
              <a:latin typeface="Helios"/>
              <a:ea typeface="Helios"/>
              <a:cs typeface="Helios"/>
              <a:sym typeface="Helios"/>
            </a:endParaRPr>
          </a:p>
          <a:p>
            <a:pPr marL="835023" lvl="1" indent="-457200">
              <a:lnSpc>
                <a:spcPct val="150000"/>
              </a:lnSpc>
              <a:buFont typeface="Arial" panose="020B0604020202020204" pitchFamily="34" charset="0"/>
              <a:buChar char="•"/>
            </a:pPr>
            <a:r>
              <a:rPr lang="en-US" sz="3600" dirty="0"/>
              <a:t>The interface should be simple, user-friendly, and easy to navigate.</a:t>
            </a:r>
            <a:endParaRPr lang="en-US" sz="3600" dirty="0">
              <a:solidFill>
                <a:srgbClr val="000000"/>
              </a:solidFill>
              <a:latin typeface="Helios"/>
              <a:ea typeface="Helios"/>
              <a:cs typeface="Helios"/>
              <a:sym typeface="Helios"/>
            </a:endParaRPr>
          </a:p>
          <a:p>
            <a:pPr marL="835023" lvl="1" indent="-457200">
              <a:lnSpc>
                <a:spcPct val="150000"/>
              </a:lnSpc>
              <a:buFont typeface="Arial" panose="020B0604020202020204" pitchFamily="34" charset="0"/>
              <a:buChar char="•"/>
            </a:pPr>
            <a:r>
              <a:rPr lang="en-US" sz="3600" dirty="0"/>
              <a:t>Data should be secure and protected from unauthorized access.</a:t>
            </a:r>
            <a:endParaRPr lang="en-US" sz="3600" dirty="0">
              <a:solidFill>
                <a:srgbClr val="000000"/>
              </a:solidFill>
              <a:latin typeface="Helios"/>
              <a:ea typeface="Helios"/>
              <a:cs typeface="Helios"/>
              <a:sym typeface="Helios"/>
            </a:endParaRPr>
          </a:p>
          <a:p>
            <a:pPr marL="835023" lvl="1" indent="-457200">
              <a:lnSpc>
                <a:spcPct val="150000"/>
              </a:lnSpc>
              <a:buFont typeface="Arial" panose="020B0604020202020204" pitchFamily="34" charset="0"/>
              <a:buChar char="•"/>
            </a:pPr>
            <a:r>
              <a:rPr lang="en-US" sz="3600" dirty="0"/>
              <a:t>The system should work in an offline environment.</a:t>
            </a:r>
          </a:p>
          <a:p>
            <a:pPr marL="835023" lvl="1" indent="-457200">
              <a:lnSpc>
                <a:spcPct val="150000"/>
              </a:lnSpc>
              <a:buFont typeface="Arial" panose="020B0604020202020204" pitchFamily="34" charset="0"/>
              <a:buChar char="•"/>
            </a:pPr>
            <a:r>
              <a:rPr lang="en-US" sz="3600" dirty="0"/>
              <a:t>It should be easy to maintain and update in the future.</a:t>
            </a:r>
            <a:endParaRPr lang="en-US" sz="3600" dirty="0">
              <a:solidFill>
                <a:srgbClr val="000000"/>
              </a:solidFill>
              <a:latin typeface="Helios"/>
              <a:ea typeface="Helios"/>
              <a:cs typeface="Helios"/>
              <a:sym typeface="Helios"/>
            </a:endParaRPr>
          </a:p>
        </p:txBody>
      </p:sp>
    </p:spTree>
    <p:extLst>
      <p:ext uri="{BB962C8B-B14F-4D97-AF65-F5344CB8AC3E}">
        <p14:creationId xmlns:p14="http://schemas.microsoft.com/office/powerpoint/2010/main" val="895443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0877" y="0"/>
            <a:ext cx="11297670" cy="895438"/>
          </a:xfrm>
          <a:prstGeom prst="rect">
            <a:avLst/>
          </a:prstGeom>
        </p:spPr>
        <p:txBody>
          <a:bodyPr wrap="square" lIns="0" tIns="0" rIns="0" bIns="0" rtlCol="0" anchor="t">
            <a:spAutoFit/>
          </a:bodyPr>
          <a:lstStyle/>
          <a:p>
            <a:pPr marL="0" lvl="0" indent="0" algn="ctr">
              <a:lnSpc>
                <a:spcPts val="7800"/>
              </a:lnSpc>
              <a:spcBef>
                <a:spcPct val="0"/>
              </a:spcBef>
            </a:pPr>
            <a:r>
              <a:rPr lang="en-US" sz="4800" dirty="0">
                <a:solidFill>
                  <a:srgbClr val="27296D"/>
                </a:solidFill>
                <a:latin typeface="Helios Bold"/>
                <a:ea typeface="Helios Bold"/>
                <a:cs typeface="Helios Bold"/>
                <a:sym typeface="Helios Bold"/>
              </a:rPr>
              <a:t>ER Diagram  </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pic>
        <p:nvPicPr>
          <p:cNvPr id="4" name="Picture 3">
            <a:extLst>
              <a:ext uri="{FF2B5EF4-FFF2-40B4-BE49-F238E27FC236}">
                <a16:creationId xmlns:a16="http://schemas.microsoft.com/office/drawing/2014/main" id="{C99DD852-A4A4-70D2-26F8-0CCB84FD24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90800" y="1461447"/>
            <a:ext cx="10134600" cy="6096000"/>
          </a:xfrm>
          <a:prstGeom prst="rect">
            <a:avLst/>
          </a:prstGeom>
        </p:spPr>
      </p:pic>
      <p:sp>
        <p:nvSpPr>
          <p:cNvPr id="19" name="Text Placeholder 18">
            <a:extLst>
              <a:ext uri="{FF2B5EF4-FFF2-40B4-BE49-F238E27FC236}">
                <a16:creationId xmlns:a16="http://schemas.microsoft.com/office/drawing/2014/main" id="{D39B3A8D-430F-BF35-2AD8-70DB07280805}"/>
              </a:ext>
            </a:extLst>
          </p:cNvPr>
          <p:cNvSpPr>
            <a:spLocks noGrp="1"/>
          </p:cNvSpPr>
          <p:nvPr>
            <p:ph type="body" sz="half" idx="2"/>
          </p:nvPr>
        </p:nvSpPr>
        <p:spPr>
          <a:xfrm>
            <a:off x="3505200" y="7699683"/>
            <a:ext cx="10134599" cy="1006808"/>
          </a:xfrm>
        </p:spPr>
        <p:txBody>
          <a:bodyPr>
            <a:noAutofit/>
          </a:bodyPr>
          <a:lstStyle/>
          <a:p>
            <a:r>
              <a:rPr lang="en-US" sz="3600" dirty="0"/>
              <a:t>Figure: ER Diagram of Exam </a:t>
            </a:r>
            <a:r>
              <a:rPr lang="en-US" sz="3600" dirty="0" err="1"/>
              <a:t>Managment</a:t>
            </a:r>
            <a:r>
              <a:rPr lang="en-US" sz="3600" dirty="0"/>
              <a:t> system</a:t>
            </a:r>
          </a:p>
        </p:txBody>
      </p:sp>
    </p:spTree>
    <p:extLst>
      <p:ext uri="{BB962C8B-B14F-4D97-AF65-F5344CB8AC3E}">
        <p14:creationId xmlns:p14="http://schemas.microsoft.com/office/powerpoint/2010/main" val="2476781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0" y="114998"/>
            <a:ext cx="11297670" cy="895438"/>
          </a:xfrm>
          <a:prstGeom prst="rect">
            <a:avLst/>
          </a:prstGeom>
        </p:spPr>
        <p:txBody>
          <a:bodyPr wrap="square" lIns="0" tIns="0" rIns="0" bIns="0" rtlCol="0" anchor="t">
            <a:spAutoFit/>
          </a:bodyPr>
          <a:lstStyle/>
          <a:p>
            <a:pPr marL="0" lvl="0" indent="0" algn="ctr">
              <a:lnSpc>
                <a:spcPts val="7800"/>
              </a:lnSpc>
              <a:spcBef>
                <a:spcPct val="0"/>
              </a:spcBef>
            </a:pPr>
            <a:r>
              <a:rPr lang="en-US" sz="4800" dirty="0">
                <a:solidFill>
                  <a:srgbClr val="27296D"/>
                </a:solidFill>
                <a:latin typeface="Helios Bold"/>
                <a:ea typeface="Helios Bold"/>
                <a:cs typeface="Helios Bold"/>
                <a:sym typeface="Helios Bold"/>
              </a:rPr>
              <a:t>Context Diagram</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pic>
        <p:nvPicPr>
          <p:cNvPr id="4" name="Picture 3">
            <a:extLst>
              <a:ext uri="{FF2B5EF4-FFF2-40B4-BE49-F238E27FC236}">
                <a16:creationId xmlns:a16="http://schemas.microsoft.com/office/drawing/2014/main" id="{8ABFB0AC-D9D6-8B25-B022-395ABEA098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71618" y="1256576"/>
            <a:ext cx="11297670" cy="7531780"/>
          </a:xfrm>
          <a:prstGeom prst="rect">
            <a:avLst/>
          </a:prstGeom>
        </p:spPr>
      </p:pic>
    </p:spTree>
    <p:extLst>
      <p:ext uri="{BB962C8B-B14F-4D97-AF65-F5344CB8AC3E}">
        <p14:creationId xmlns:p14="http://schemas.microsoft.com/office/powerpoint/2010/main" val="4265396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76801" y="1001851"/>
            <a:ext cx="10992870" cy="1000274"/>
          </a:xfrm>
          <a:prstGeom prst="rect">
            <a:avLst/>
          </a:prstGeom>
        </p:spPr>
        <p:txBody>
          <a:bodyPr wrap="square" lIns="0" tIns="0" rIns="0" bIns="0" rtlCol="0" anchor="t">
            <a:spAutoFit/>
          </a:bodyPr>
          <a:lstStyle/>
          <a:p>
            <a:pPr marL="0" lvl="0" indent="0" algn="ctr">
              <a:lnSpc>
                <a:spcPts val="7800"/>
              </a:lnSpc>
              <a:spcBef>
                <a:spcPct val="0"/>
              </a:spcBef>
            </a:pPr>
            <a:r>
              <a:rPr lang="en-US" sz="6500" dirty="0">
                <a:solidFill>
                  <a:srgbClr val="27296D"/>
                </a:solidFill>
                <a:latin typeface="Helios Bold"/>
                <a:ea typeface="Helios Bold"/>
                <a:cs typeface="Helios Bold"/>
                <a:sym typeface="Helios Bold"/>
              </a:rPr>
              <a:t>Implementation Tools</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4"/>
          <p:cNvSpPr txBox="1"/>
          <p:nvPr/>
        </p:nvSpPr>
        <p:spPr>
          <a:xfrm>
            <a:off x="1662176" y="2148040"/>
            <a:ext cx="14622120" cy="6647974"/>
          </a:xfrm>
          <a:prstGeom prst="rect">
            <a:avLst/>
          </a:prstGeom>
        </p:spPr>
        <p:txBody>
          <a:bodyPr lIns="0" tIns="0" rIns="0" bIns="0" rtlCol="0" anchor="t">
            <a:spAutoFit/>
          </a:bodyPr>
          <a:lstStyle/>
          <a:p>
            <a:pPr>
              <a:lnSpc>
                <a:spcPct val="150000"/>
              </a:lnSpc>
            </a:pPr>
            <a:r>
              <a:rPr lang="en-US" sz="3200" b="1" dirty="0">
                <a:latin typeface="Times New Roman" panose="02020603050405020304" pitchFamily="18" charset="0"/>
                <a:cs typeface="Times New Roman" panose="02020603050405020304" pitchFamily="18" charset="0"/>
              </a:rPr>
              <a:t>Frontend</a:t>
            </a:r>
            <a:endParaRPr lang="en-US" sz="3200" dirty="0">
              <a:latin typeface="Times New Roman" panose="02020603050405020304" pitchFamily="18" charset="0"/>
              <a:cs typeface="Times New Roman" panose="02020603050405020304" pitchFamily="18" charset="0"/>
            </a:endParaRPr>
          </a:p>
          <a:p>
            <a:pPr lvl="0">
              <a:lnSpc>
                <a:spcPct val="150000"/>
              </a:lnSpc>
            </a:pPr>
            <a:r>
              <a:rPr lang="en-US" sz="3200" dirty="0">
                <a:latin typeface="Times New Roman" panose="02020603050405020304" pitchFamily="18" charset="0"/>
                <a:cs typeface="Times New Roman" panose="02020603050405020304" pitchFamily="18" charset="0"/>
              </a:rPr>
              <a:t>HTML, CSS, JavaScript</a:t>
            </a:r>
          </a:p>
          <a:p>
            <a:pPr>
              <a:lnSpc>
                <a:spcPct val="150000"/>
              </a:lnSpc>
            </a:pPr>
            <a:r>
              <a:rPr lang="en-US" sz="3200" b="1" dirty="0">
                <a:latin typeface="Times New Roman" panose="02020603050405020304" pitchFamily="18" charset="0"/>
                <a:cs typeface="Times New Roman" panose="02020603050405020304" pitchFamily="18" charset="0"/>
              </a:rPr>
              <a:t>Backend</a:t>
            </a:r>
            <a:endParaRPr lang="en-US" sz="3200" dirty="0">
              <a:latin typeface="Times New Roman" panose="02020603050405020304" pitchFamily="18" charset="0"/>
              <a:cs typeface="Times New Roman" panose="02020603050405020304" pitchFamily="18" charset="0"/>
            </a:endParaRPr>
          </a:p>
          <a:p>
            <a:pPr lvl="0">
              <a:lnSpc>
                <a:spcPct val="150000"/>
              </a:lnSpc>
            </a:pPr>
            <a:r>
              <a:rPr lang="en-US" sz="3200" dirty="0">
                <a:latin typeface="Times New Roman" panose="02020603050405020304" pitchFamily="18" charset="0"/>
                <a:cs typeface="Times New Roman" panose="02020603050405020304" pitchFamily="18" charset="0"/>
              </a:rPr>
              <a:t>PHP for server-side scripting</a:t>
            </a:r>
          </a:p>
          <a:p>
            <a:pPr lvl="0">
              <a:lnSpc>
                <a:spcPct val="150000"/>
              </a:lnSpc>
            </a:pPr>
            <a:r>
              <a:rPr lang="en-US" sz="3200" dirty="0">
                <a:latin typeface="Times New Roman" panose="02020603050405020304" pitchFamily="18" charset="0"/>
                <a:cs typeface="Times New Roman" panose="02020603050405020304" pitchFamily="18" charset="0"/>
              </a:rPr>
              <a:t>MySQL for database management</a:t>
            </a:r>
          </a:p>
          <a:p>
            <a:pPr>
              <a:lnSpc>
                <a:spcPct val="150000"/>
              </a:lnSpc>
            </a:pPr>
            <a:r>
              <a:rPr lang="en-US" sz="3200" b="1" dirty="0">
                <a:latin typeface="Times New Roman" panose="02020603050405020304" pitchFamily="18" charset="0"/>
                <a:cs typeface="Times New Roman" panose="02020603050405020304" pitchFamily="18" charset="0"/>
              </a:rPr>
              <a:t>Development Tools</a:t>
            </a:r>
            <a:endParaRPr lang="en-US" sz="3200" dirty="0">
              <a:latin typeface="Times New Roman" panose="02020603050405020304" pitchFamily="18" charset="0"/>
              <a:cs typeface="Times New Roman" panose="02020603050405020304" pitchFamily="18" charset="0"/>
            </a:endParaRPr>
          </a:p>
          <a:p>
            <a:pPr lvl="0">
              <a:lnSpc>
                <a:spcPct val="150000"/>
              </a:lnSpc>
            </a:pPr>
            <a:r>
              <a:rPr lang="en-US" sz="3200" dirty="0">
                <a:latin typeface="Times New Roman" panose="02020603050405020304" pitchFamily="18" charset="0"/>
                <a:cs typeface="Times New Roman" panose="02020603050405020304" pitchFamily="18" charset="0"/>
              </a:rPr>
              <a:t>GitHub for version control</a:t>
            </a:r>
          </a:p>
          <a:p>
            <a:pPr lvl="0">
              <a:lnSpc>
                <a:spcPct val="150000"/>
              </a:lnSpc>
            </a:pPr>
            <a:r>
              <a:rPr lang="en-US" sz="3200" dirty="0">
                <a:latin typeface="Times New Roman" panose="02020603050405020304" pitchFamily="18" charset="0"/>
                <a:cs typeface="Times New Roman" panose="02020603050405020304" pitchFamily="18" charset="0"/>
              </a:rPr>
              <a:t>Visual Studio Code for coding</a:t>
            </a:r>
          </a:p>
          <a:p>
            <a:pPr lvl="0">
              <a:lnSpc>
                <a:spcPct val="150000"/>
              </a:lnSpc>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1093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09566" y="419100"/>
            <a:ext cx="10992870" cy="1000274"/>
          </a:xfrm>
          <a:prstGeom prst="rect">
            <a:avLst/>
          </a:prstGeom>
        </p:spPr>
        <p:txBody>
          <a:bodyPr wrap="square" lIns="0" tIns="0" rIns="0" bIns="0" rtlCol="0" anchor="t">
            <a:spAutoFit/>
          </a:bodyPr>
          <a:lstStyle/>
          <a:p>
            <a:pPr marL="0" lvl="0" indent="0" algn="ctr">
              <a:lnSpc>
                <a:spcPts val="7800"/>
              </a:lnSpc>
              <a:spcBef>
                <a:spcPct val="0"/>
              </a:spcBef>
            </a:pPr>
            <a:r>
              <a:rPr lang="en-US" sz="6500" dirty="0">
                <a:solidFill>
                  <a:srgbClr val="27296D"/>
                </a:solidFill>
                <a:latin typeface="Helios Bold"/>
                <a:ea typeface="Helios Bold"/>
                <a:cs typeface="Helios Bold"/>
                <a:sym typeface="Helios Bold"/>
              </a:rPr>
              <a:t>Testing Evidences</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7" name="TextBox 16"/>
          <p:cNvSpPr txBox="1"/>
          <p:nvPr/>
        </p:nvSpPr>
        <p:spPr>
          <a:xfrm>
            <a:off x="6324600" y="1721869"/>
            <a:ext cx="76200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(User Login with invalid credentials)</a:t>
            </a:r>
          </a:p>
        </p:txBody>
      </p:sp>
      <p:pic>
        <p:nvPicPr>
          <p:cNvPr id="16" name="Picture 15">
            <a:extLst>
              <a:ext uri="{FF2B5EF4-FFF2-40B4-BE49-F238E27FC236}">
                <a16:creationId xmlns:a16="http://schemas.microsoft.com/office/drawing/2014/main" id="{2C1EDC4C-FCCF-85C4-8272-1B0BEE0D9CF4}"/>
              </a:ext>
            </a:extLst>
          </p:cNvPr>
          <p:cNvPicPr>
            <a:picLocks noChangeAspect="1"/>
          </p:cNvPicPr>
          <p:nvPr/>
        </p:nvPicPr>
        <p:blipFill>
          <a:blip r:embed="rId3"/>
          <a:stretch>
            <a:fillRect/>
          </a:stretch>
        </p:blipFill>
        <p:spPr>
          <a:xfrm>
            <a:off x="4572000" y="2694920"/>
            <a:ext cx="3139211" cy="5504883"/>
          </a:xfrm>
          <a:prstGeom prst="rect">
            <a:avLst/>
          </a:prstGeom>
        </p:spPr>
      </p:pic>
      <p:pic>
        <p:nvPicPr>
          <p:cNvPr id="19" name="Picture 18">
            <a:extLst>
              <a:ext uri="{FF2B5EF4-FFF2-40B4-BE49-F238E27FC236}">
                <a16:creationId xmlns:a16="http://schemas.microsoft.com/office/drawing/2014/main" id="{2E32F4F2-7220-772A-8B8D-722957916B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29460" y="4183300"/>
            <a:ext cx="5172075" cy="1685925"/>
          </a:xfrm>
          <a:prstGeom prst="rect">
            <a:avLst/>
          </a:prstGeom>
        </p:spPr>
      </p:pic>
    </p:spTree>
    <p:extLst>
      <p:ext uri="{BB962C8B-B14F-4D97-AF65-F5344CB8AC3E}">
        <p14:creationId xmlns:p14="http://schemas.microsoft.com/office/powerpoint/2010/main" val="3251078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7" name="TextBox 16"/>
          <p:cNvSpPr txBox="1"/>
          <p:nvPr/>
        </p:nvSpPr>
        <p:spPr>
          <a:xfrm>
            <a:off x="5715000" y="595047"/>
            <a:ext cx="89154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(Account create with valid credentials)</a:t>
            </a:r>
          </a:p>
        </p:txBody>
      </p:sp>
      <p:pic>
        <p:nvPicPr>
          <p:cNvPr id="3" name="Picture 2">
            <a:extLst>
              <a:ext uri="{FF2B5EF4-FFF2-40B4-BE49-F238E27FC236}">
                <a16:creationId xmlns:a16="http://schemas.microsoft.com/office/drawing/2014/main" id="{2C025AFE-7458-270E-D132-F2030C79636D}"/>
              </a:ext>
            </a:extLst>
          </p:cNvPr>
          <p:cNvPicPr>
            <a:picLocks noChangeAspect="1"/>
          </p:cNvPicPr>
          <p:nvPr/>
        </p:nvPicPr>
        <p:blipFill>
          <a:blip r:embed="rId3"/>
          <a:stretch>
            <a:fillRect/>
          </a:stretch>
        </p:blipFill>
        <p:spPr>
          <a:xfrm>
            <a:off x="6991049" y="1680679"/>
            <a:ext cx="4362751" cy="7017080"/>
          </a:xfrm>
          <a:prstGeom prst="rect">
            <a:avLst/>
          </a:prstGeom>
        </p:spPr>
      </p:pic>
    </p:spTree>
    <p:extLst>
      <p:ext uri="{BB962C8B-B14F-4D97-AF65-F5344CB8AC3E}">
        <p14:creationId xmlns:p14="http://schemas.microsoft.com/office/powerpoint/2010/main" val="2449448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8" name="TextBox 17"/>
          <p:cNvSpPr txBox="1"/>
          <p:nvPr/>
        </p:nvSpPr>
        <p:spPr>
          <a:xfrm>
            <a:off x="4634724" y="454649"/>
            <a:ext cx="83820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(Homepage)</a:t>
            </a:r>
          </a:p>
        </p:txBody>
      </p:sp>
      <p:pic>
        <p:nvPicPr>
          <p:cNvPr id="4" name="Picture 3">
            <a:extLst>
              <a:ext uri="{FF2B5EF4-FFF2-40B4-BE49-F238E27FC236}">
                <a16:creationId xmlns:a16="http://schemas.microsoft.com/office/drawing/2014/main" id="{E7FB4618-D494-6AF6-4694-C4F40D8875EA}"/>
              </a:ext>
            </a:extLst>
          </p:cNvPr>
          <p:cNvPicPr>
            <a:picLocks noChangeAspect="1"/>
          </p:cNvPicPr>
          <p:nvPr/>
        </p:nvPicPr>
        <p:blipFill>
          <a:blip r:embed="rId3"/>
          <a:stretch>
            <a:fillRect/>
          </a:stretch>
        </p:blipFill>
        <p:spPr>
          <a:xfrm>
            <a:off x="5083492" y="1885987"/>
            <a:ext cx="8121594" cy="6610313"/>
          </a:xfrm>
          <a:prstGeom prst="rect">
            <a:avLst/>
          </a:prstGeom>
        </p:spPr>
      </p:pic>
    </p:spTree>
    <p:extLst>
      <p:ext uri="{BB962C8B-B14F-4D97-AF65-F5344CB8AC3E}">
        <p14:creationId xmlns:p14="http://schemas.microsoft.com/office/powerpoint/2010/main" val="3199448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3" name="TextBox 2"/>
          <p:cNvSpPr txBox="1"/>
          <p:nvPr/>
        </p:nvSpPr>
        <p:spPr>
          <a:xfrm>
            <a:off x="4572000" y="612017"/>
            <a:ext cx="74676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Dashboard</a:t>
            </a:r>
          </a:p>
        </p:txBody>
      </p:sp>
      <p:sp>
        <p:nvSpPr>
          <p:cNvPr id="4" name="Title 3">
            <a:extLst>
              <a:ext uri="{FF2B5EF4-FFF2-40B4-BE49-F238E27FC236}">
                <a16:creationId xmlns:a16="http://schemas.microsoft.com/office/drawing/2014/main" id="{8B6C96DC-EC17-1658-BE56-1CD21541198A}"/>
              </a:ext>
            </a:extLst>
          </p:cNvPr>
          <p:cNvSpPr>
            <a:spLocks noGrp="1"/>
          </p:cNvSpPr>
          <p:nvPr>
            <p:ph type="title"/>
          </p:nvPr>
        </p:nvSpPr>
        <p:spPr>
          <a:xfrm>
            <a:off x="4191000" y="1377618"/>
            <a:ext cx="8229600" cy="1143000"/>
          </a:xfrm>
        </p:spPr>
        <p:txBody>
          <a:bodyPr>
            <a:normAutofit/>
          </a:bodyPr>
          <a:lstStyle/>
          <a:p>
            <a:r>
              <a:rPr lang="en-US" sz="3600" b="1" dirty="0"/>
              <a:t>Admin</a:t>
            </a:r>
          </a:p>
        </p:txBody>
      </p:sp>
      <p:pic>
        <p:nvPicPr>
          <p:cNvPr id="17" name="Picture 16">
            <a:extLst>
              <a:ext uri="{FF2B5EF4-FFF2-40B4-BE49-F238E27FC236}">
                <a16:creationId xmlns:a16="http://schemas.microsoft.com/office/drawing/2014/main" id="{24779010-5BFA-4DD3-8EB2-0FB026250A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8" y="2349973"/>
            <a:ext cx="15240000" cy="6543675"/>
          </a:xfrm>
          <a:prstGeom prst="rect">
            <a:avLst/>
          </a:prstGeom>
        </p:spPr>
      </p:pic>
    </p:spTree>
    <p:extLst>
      <p:ext uri="{BB962C8B-B14F-4D97-AF65-F5344CB8AC3E}">
        <p14:creationId xmlns:p14="http://schemas.microsoft.com/office/powerpoint/2010/main" val="3352987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3" name="TextBox 2"/>
          <p:cNvSpPr txBox="1"/>
          <p:nvPr/>
        </p:nvSpPr>
        <p:spPr>
          <a:xfrm>
            <a:off x="4572000" y="647700"/>
            <a:ext cx="6795655"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Student</a:t>
            </a:r>
          </a:p>
        </p:txBody>
      </p:sp>
      <p:pic>
        <p:nvPicPr>
          <p:cNvPr id="18" name="Picture 17">
            <a:extLst>
              <a:ext uri="{FF2B5EF4-FFF2-40B4-BE49-F238E27FC236}">
                <a16:creationId xmlns:a16="http://schemas.microsoft.com/office/drawing/2014/main" id="{3C18FDB5-BC0A-C281-ADC1-0FB3329CDA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681162"/>
            <a:ext cx="15240000" cy="6924675"/>
          </a:xfrm>
          <a:prstGeom prst="rect">
            <a:avLst/>
          </a:prstGeom>
        </p:spPr>
      </p:pic>
    </p:spTree>
    <p:extLst>
      <p:ext uri="{BB962C8B-B14F-4D97-AF65-F5344CB8AC3E}">
        <p14:creationId xmlns:p14="http://schemas.microsoft.com/office/powerpoint/2010/main" val="1724398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3" name="TextBox 2"/>
          <p:cNvSpPr txBox="1"/>
          <p:nvPr/>
        </p:nvSpPr>
        <p:spPr>
          <a:xfrm>
            <a:off x="4953000" y="730210"/>
            <a:ext cx="54102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Teachers</a:t>
            </a:r>
          </a:p>
        </p:txBody>
      </p:sp>
      <p:pic>
        <p:nvPicPr>
          <p:cNvPr id="16" name="Picture 15">
            <a:extLst>
              <a:ext uri="{FF2B5EF4-FFF2-40B4-BE49-F238E27FC236}">
                <a16:creationId xmlns:a16="http://schemas.microsoft.com/office/drawing/2014/main" id="{51844776-0B32-388A-970F-0CA246623E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528763"/>
            <a:ext cx="14859000" cy="7048738"/>
          </a:xfrm>
          <a:prstGeom prst="rect">
            <a:avLst/>
          </a:prstGeom>
        </p:spPr>
      </p:pic>
    </p:spTree>
    <p:extLst>
      <p:ext uri="{BB962C8B-B14F-4D97-AF65-F5344CB8AC3E}">
        <p14:creationId xmlns:p14="http://schemas.microsoft.com/office/powerpoint/2010/main" val="2892918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3" name="TextBox 2"/>
          <p:cNvSpPr txBox="1"/>
          <p:nvPr/>
        </p:nvSpPr>
        <p:spPr>
          <a:xfrm>
            <a:off x="5105400" y="458065"/>
            <a:ext cx="64770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Role of Admin</a:t>
            </a:r>
          </a:p>
        </p:txBody>
      </p:sp>
      <p:pic>
        <p:nvPicPr>
          <p:cNvPr id="16" name="Picture 15">
            <a:extLst>
              <a:ext uri="{FF2B5EF4-FFF2-40B4-BE49-F238E27FC236}">
                <a16:creationId xmlns:a16="http://schemas.microsoft.com/office/drawing/2014/main" id="{C36C4C22-79B1-B535-6A97-FCF444F21E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3419475"/>
            <a:ext cx="15240000" cy="3448050"/>
          </a:xfrm>
          <a:prstGeom prst="rect">
            <a:avLst/>
          </a:prstGeom>
        </p:spPr>
      </p:pic>
    </p:spTree>
    <p:extLst>
      <p:ext uri="{BB962C8B-B14F-4D97-AF65-F5344CB8AC3E}">
        <p14:creationId xmlns:p14="http://schemas.microsoft.com/office/powerpoint/2010/main" val="204558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15"/>
          <p:cNvSpPr txBox="1"/>
          <p:nvPr/>
        </p:nvSpPr>
        <p:spPr>
          <a:xfrm>
            <a:off x="5334000" y="419100"/>
            <a:ext cx="64770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Results Managements</a:t>
            </a:r>
          </a:p>
        </p:txBody>
      </p:sp>
      <p:pic>
        <p:nvPicPr>
          <p:cNvPr id="4" name="Picture 3">
            <a:extLst>
              <a:ext uri="{FF2B5EF4-FFF2-40B4-BE49-F238E27FC236}">
                <a16:creationId xmlns:a16="http://schemas.microsoft.com/office/drawing/2014/main" id="{5539E058-07AD-7DFD-2C78-50B050F9F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6408" y="1952863"/>
            <a:ext cx="15334805" cy="4276733"/>
          </a:xfrm>
          <a:prstGeom prst="rect">
            <a:avLst/>
          </a:prstGeom>
        </p:spPr>
      </p:pic>
    </p:spTree>
    <p:extLst>
      <p:ext uri="{BB962C8B-B14F-4D97-AF65-F5344CB8AC3E}">
        <p14:creationId xmlns:p14="http://schemas.microsoft.com/office/powerpoint/2010/main" val="3206771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15"/>
          <p:cNvSpPr txBox="1"/>
          <p:nvPr/>
        </p:nvSpPr>
        <p:spPr>
          <a:xfrm>
            <a:off x="5105400" y="458065"/>
            <a:ext cx="64770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 Students Profiles</a:t>
            </a:r>
          </a:p>
        </p:txBody>
      </p:sp>
      <p:pic>
        <p:nvPicPr>
          <p:cNvPr id="2" name="Picture 1">
            <a:extLst>
              <a:ext uri="{FF2B5EF4-FFF2-40B4-BE49-F238E27FC236}">
                <a16:creationId xmlns:a16="http://schemas.microsoft.com/office/drawing/2014/main" id="{E0DCBF11-646B-B554-1BBD-DA7C7D57182E}"/>
              </a:ext>
            </a:extLst>
          </p:cNvPr>
          <p:cNvPicPr>
            <a:picLocks noChangeAspect="1"/>
          </p:cNvPicPr>
          <p:nvPr/>
        </p:nvPicPr>
        <p:blipFill>
          <a:blip r:embed="rId3"/>
          <a:stretch>
            <a:fillRect/>
          </a:stretch>
        </p:blipFill>
        <p:spPr>
          <a:xfrm>
            <a:off x="5105400" y="1566905"/>
            <a:ext cx="7579995" cy="7161548"/>
          </a:xfrm>
          <a:prstGeom prst="rect">
            <a:avLst/>
          </a:prstGeom>
        </p:spPr>
      </p:pic>
    </p:spTree>
    <p:extLst>
      <p:ext uri="{BB962C8B-B14F-4D97-AF65-F5344CB8AC3E}">
        <p14:creationId xmlns:p14="http://schemas.microsoft.com/office/powerpoint/2010/main" val="1241012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15"/>
          <p:cNvSpPr txBox="1"/>
          <p:nvPr/>
        </p:nvSpPr>
        <p:spPr>
          <a:xfrm>
            <a:off x="5105400" y="458065"/>
            <a:ext cx="64770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Question Management</a:t>
            </a:r>
          </a:p>
        </p:txBody>
      </p:sp>
      <p:pic>
        <p:nvPicPr>
          <p:cNvPr id="4" name="Picture 3">
            <a:extLst>
              <a:ext uri="{FF2B5EF4-FFF2-40B4-BE49-F238E27FC236}">
                <a16:creationId xmlns:a16="http://schemas.microsoft.com/office/drawing/2014/main" id="{A6C66FBF-06A6-B260-9F5F-1E33C065F1FC}"/>
              </a:ext>
            </a:extLst>
          </p:cNvPr>
          <p:cNvPicPr>
            <a:picLocks noChangeAspect="1"/>
          </p:cNvPicPr>
          <p:nvPr/>
        </p:nvPicPr>
        <p:blipFill>
          <a:blip r:embed="rId3"/>
          <a:stretch>
            <a:fillRect/>
          </a:stretch>
        </p:blipFill>
        <p:spPr>
          <a:xfrm>
            <a:off x="4757125" y="1714021"/>
            <a:ext cx="8773749" cy="6858957"/>
          </a:xfrm>
          <a:prstGeom prst="rect">
            <a:avLst/>
          </a:prstGeom>
        </p:spPr>
      </p:pic>
    </p:spTree>
    <p:extLst>
      <p:ext uri="{BB962C8B-B14F-4D97-AF65-F5344CB8AC3E}">
        <p14:creationId xmlns:p14="http://schemas.microsoft.com/office/powerpoint/2010/main" val="2030238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15"/>
          <p:cNvSpPr txBox="1"/>
          <p:nvPr/>
        </p:nvSpPr>
        <p:spPr>
          <a:xfrm>
            <a:off x="5181600" y="458065"/>
            <a:ext cx="64770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Exam Schedules</a:t>
            </a:r>
          </a:p>
        </p:txBody>
      </p:sp>
      <p:pic>
        <p:nvPicPr>
          <p:cNvPr id="4" name="Picture 3">
            <a:extLst>
              <a:ext uri="{FF2B5EF4-FFF2-40B4-BE49-F238E27FC236}">
                <a16:creationId xmlns:a16="http://schemas.microsoft.com/office/drawing/2014/main" id="{F074196F-0E59-5582-A04D-E07CA78240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2418306"/>
            <a:ext cx="16441256" cy="4735943"/>
          </a:xfrm>
          <a:prstGeom prst="rect">
            <a:avLst/>
          </a:prstGeom>
        </p:spPr>
      </p:pic>
    </p:spTree>
    <p:extLst>
      <p:ext uri="{BB962C8B-B14F-4D97-AF65-F5344CB8AC3E}">
        <p14:creationId xmlns:p14="http://schemas.microsoft.com/office/powerpoint/2010/main" val="3873581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15"/>
          <p:cNvSpPr txBox="1"/>
          <p:nvPr/>
        </p:nvSpPr>
        <p:spPr>
          <a:xfrm>
            <a:off x="5105400" y="458065"/>
            <a:ext cx="64770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Notice</a:t>
            </a:r>
          </a:p>
        </p:txBody>
      </p:sp>
      <p:pic>
        <p:nvPicPr>
          <p:cNvPr id="4" name="Picture 3">
            <a:extLst>
              <a:ext uri="{FF2B5EF4-FFF2-40B4-BE49-F238E27FC236}">
                <a16:creationId xmlns:a16="http://schemas.microsoft.com/office/drawing/2014/main" id="{A2028388-64E4-41BC-EACE-8FE3B6609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8266" y="1784600"/>
            <a:ext cx="13502387" cy="4495800"/>
          </a:xfrm>
          <a:prstGeom prst="rect">
            <a:avLst/>
          </a:prstGeom>
        </p:spPr>
      </p:pic>
    </p:spTree>
    <p:extLst>
      <p:ext uri="{BB962C8B-B14F-4D97-AF65-F5344CB8AC3E}">
        <p14:creationId xmlns:p14="http://schemas.microsoft.com/office/powerpoint/2010/main" val="999932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18530" y="952500"/>
            <a:ext cx="9921604" cy="1000274"/>
          </a:xfrm>
          <a:prstGeom prst="rect">
            <a:avLst/>
          </a:prstGeom>
        </p:spPr>
        <p:txBody>
          <a:bodyPr wrap="square" lIns="0" tIns="0" rIns="0" bIns="0" rtlCol="0" anchor="t">
            <a:spAutoFit/>
          </a:bodyPr>
          <a:lstStyle/>
          <a:p>
            <a:pPr marL="0" lvl="0" indent="0" algn="ctr">
              <a:lnSpc>
                <a:spcPts val="7800"/>
              </a:lnSpc>
              <a:spcBef>
                <a:spcPct val="0"/>
              </a:spcBef>
            </a:pPr>
            <a:r>
              <a:rPr lang="en-US" sz="6500" dirty="0">
                <a:solidFill>
                  <a:srgbClr val="27296D"/>
                </a:solidFill>
                <a:latin typeface="Helios Bold"/>
                <a:ea typeface="Helios Bold"/>
                <a:cs typeface="Helios Bold"/>
                <a:sym typeface="Helios Bold"/>
              </a:rPr>
              <a:t>Conclusion</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4"/>
          <p:cNvSpPr txBox="1"/>
          <p:nvPr/>
        </p:nvSpPr>
        <p:spPr>
          <a:xfrm>
            <a:off x="990600" y="2400300"/>
            <a:ext cx="16772128" cy="3235181"/>
          </a:xfrm>
          <a:prstGeom prst="rect">
            <a:avLst/>
          </a:prstGeom>
        </p:spPr>
        <p:txBody>
          <a:bodyPr wrap="square" lIns="0" tIns="0" rIns="0" bIns="0" rtlCol="0" anchor="t">
            <a:spAutoFit/>
          </a:bodyPr>
          <a:lstStyle/>
          <a:p>
            <a:pPr lvl="0">
              <a:lnSpc>
                <a:spcPct val="150000"/>
              </a:lnSpc>
            </a:pPr>
            <a:r>
              <a:rPr lang="en-US" sz="3600" dirty="0"/>
              <a:t>The Exam Management System is a simple and efficient system that helps manage examination activities like scheduling, marks entry, and result processing. It reduces manual work, minimizes errors, and improves accuracy and organization, making the exam process faster and more reliable.</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8389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Rectangle 139">
            <a:extLst>
              <a:ext uri="{FF2B5EF4-FFF2-40B4-BE49-F238E27FC236}">
                <a16:creationId xmlns:a16="http://schemas.microsoft.com/office/drawing/2014/main" id="{60D82AB2-FFF5-5FB2-494E-7187D22372A7}"/>
              </a:ext>
            </a:extLst>
          </p:cNvPr>
          <p:cNvSpPr/>
          <p:nvPr/>
        </p:nvSpPr>
        <p:spPr>
          <a:xfrm>
            <a:off x="0" y="0"/>
            <a:ext cx="18288000" cy="10287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Title 141">
            <a:extLst>
              <a:ext uri="{FF2B5EF4-FFF2-40B4-BE49-F238E27FC236}">
                <a16:creationId xmlns:a16="http://schemas.microsoft.com/office/drawing/2014/main" id="{FB557A21-659D-3010-F822-87B53E955768}"/>
              </a:ext>
            </a:extLst>
          </p:cNvPr>
          <p:cNvSpPr>
            <a:spLocks noGrp="1"/>
          </p:cNvSpPr>
          <p:nvPr>
            <p:ph type="title"/>
          </p:nvPr>
        </p:nvSpPr>
        <p:spPr>
          <a:xfrm>
            <a:off x="4648200" y="3467100"/>
            <a:ext cx="8229600" cy="1143000"/>
          </a:xfrm>
        </p:spPr>
        <p:txBody>
          <a:bodyPr/>
          <a:lstStyle/>
          <a:p>
            <a:r>
              <a:rPr lang="en-US" b="1">
                <a:solidFill>
                  <a:schemeClr val="bg1"/>
                </a:solidFill>
                <a:latin typeface="Times New Roman" panose="02020603050405020304" pitchFamily="18" charset="0"/>
                <a:cs typeface="Times New Roman" panose="02020603050405020304" pitchFamily="18" charset="0"/>
              </a:rPr>
              <a:t>ANY QUESTIONS ?</a:t>
            </a:r>
            <a:endParaRPr lang="en-US"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531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18530" y="952500"/>
            <a:ext cx="9921604" cy="1000274"/>
          </a:xfrm>
          <a:prstGeom prst="rect">
            <a:avLst/>
          </a:prstGeom>
        </p:spPr>
        <p:txBody>
          <a:bodyPr wrap="square" lIns="0" tIns="0" rIns="0" bIns="0" rtlCol="0" anchor="t">
            <a:spAutoFit/>
          </a:bodyPr>
          <a:lstStyle/>
          <a:p>
            <a:pPr marL="0" lvl="0" indent="0" algn="ctr">
              <a:lnSpc>
                <a:spcPts val="7800"/>
              </a:lnSpc>
              <a:spcBef>
                <a:spcPct val="0"/>
              </a:spcBef>
            </a:pPr>
            <a:r>
              <a:rPr lang="en-US" sz="6500" dirty="0">
                <a:solidFill>
                  <a:srgbClr val="27296D"/>
                </a:solidFill>
                <a:latin typeface="Helios Bold"/>
                <a:ea typeface="Helios Bold"/>
                <a:cs typeface="Helios Bold"/>
                <a:sym typeface="Helios Bold"/>
              </a:rPr>
              <a:t>References</a:t>
            </a:r>
          </a:p>
        </p:txBody>
      </p:sp>
      <p:grpSp>
        <p:nvGrpSpPr>
          <p:cNvPr id="5" name="Group 5"/>
          <p:cNvGrpSpPr/>
          <p:nvPr/>
        </p:nvGrpSpPr>
        <p:grpSpPr>
          <a:xfrm>
            <a:off x="0" y="9612633"/>
            <a:ext cx="18288000" cy="514104"/>
            <a:chOff x="0" y="0"/>
            <a:chExt cx="4816593" cy="135402"/>
          </a:xfrm>
        </p:grpSpPr>
        <p:sp>
          <p:nvSpPr>
            <p:cNvPr id="6" name="Freeform 6"/>
            <p:cNvSpPr/>
            <p:nvPr/>
          </p:nvSpPr>
          <p:spPr>
            <a:xfrm>
              <a:off x="0" y="0"/>
              <a:ext cx="4816592" cy="135402"/>
            </a:xfrm>
            <a:custGeom>
              <a:avLst/>
              <a:gdLst/>
              <a:ahLst/>
              <a:cxnLst/>
              <a:rect l="l" t="t" r="r" b="b"/>
              <a:pathLst>
                <a:path w="4816592" h="135402">
                  <a:moveTo>
                    <a:pt x="0" y="0"/>
                  </a:moveTo>
                  <a:lnTo>
                    <a:pt x="4816592" y="0"/>
                  </a:lnTo>
                  <a:lnTo>
                    <a:pt x="4816592" y="135402"/>
                  </a:lnTo>
                  <a:lnTo>
                    <a:pt x="0" y="135402"/>
                  </a:lnTo>
                  <a:close/>
                </a:path>
              </a:pathLst>
            </a:custGeom>
            <a:solidFill>
              <a:srgbClr val="EF233C"/>
            </a:solidFill>
          </p:spPr>
        </p:sp>
        <p:sp>
          <p:nvSpPr>
            <p:cNvPr id="7" name="TextBox 7"/>
            <p:cNvSpPr txBox="1"/>
            <p:nvPr/>
          </p:nvSpPr>
          <p:spPr>
            <a:xfrm>
              <a:off x="0" y="-47625"/>
              <a:ext cx="4816593" cy="183027"/>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10800000">
            <a:off x="8715111" y="9258300"/>
            <a:ext cx="1028700" cy="1028700"/>
            <a:chOff x="0" y="0"/>
            <a:chExt cx="6696000" cy="6696000"/>
          </a:xfrm>
        </p:grpSpPr>
        <p:sp>
          <p:nvSpPr>
            <p:cNvPr id="9" name="Freeform 9"/>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EF233C"/>
            </a:solidFill>
          </p:spPr>
        </p:sp>
      </p:grpSp>
      <p:grpSp>
        <p:nvGrpSpPr>
          <p:cNvPr id="10" name="Group 10"/>
          <p:cNvGrpSpPr/>
          <p:nvPr/>
        </p:nvGrpSpPr>
        <p:grpSpPr>
          <a:xfrm rot="-10800000">
            <a:off x="8770565" y="9313754"/>
            <a:ext cx="917792" cy="917792"/>
            <a:chOff x="0" y="0"/>
            <a:chExt cx="5974080" cy="5974080"/>
          </a:xfrm>
        </p:grpSpPr>
        <p:sp>
          <p:nvSpPr>
            <p:cNvPr id="11" name="Freeform 11"/>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2" name="Group 12"/>
          <p:cNvGrpSpPr/>
          <p:nvPr/>
        </p:nvGrpSpPr>
        <p:grpSpPr>
          <a:xfrm>
            <a:off x="8825724" y="9368913"/>
            <a:ext cx="807474" cy="807474"/>
            <a:chOff x="0" y="0"/>
            <a:chExt cx="5256000" cy="5256000"/>
          </a:xfrm>
        </p:grpSpPr>
        <p:sp>
          <p:nvSpPr>
            <p:cNvPr id="13" name="Freeform 13"/>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grpSp>
        <p:nvGrpSpPr>
          <p:cNvPr id="14" name="Group 14"/>
          <p:cNvGrpSpPr/>
          <p:nvPr/>
        </p:nvGrpSpPr>
        <p:grpSpPr>
          <a:xfrm>
            <a:off x="-837475" y="-598666"/>
            <a:ext cx="2480865" cy="2401475"/>
            <a:chOff x="0" y="0"/>
            <a:chExt cx="5668058" cy="5486674"/>
          </a:xfrm>
        </p:grpSpPr>
        <p:sp>
          <p:nvSpPr>
            <p:cNvPr id="15" name="Freeform 15"/>
            <p:cNvSpPr/>
            <p:nvPr/>
          </p:nvSpPr>
          <p:spPr>
            <a:xfrm>
              <a:off x="0" y="0"/>
              <a:ext cx="5724906" cy="5532120"/>
            </a:xfrm>
            <a:custGeom>
              <a:avLst/>
              <a:gdLst/>
              <a:ahLst/>
              <a:cxnLst/>
              <a:rect l="l" t="t" r="r" b="b"/>
              <a:pathLst>
                <a:path w="5724906" h="5532120">
                  <a:moveTo>
                    <a:pt x="0" y="0"/>
                  </a:moveTo>
                  <a:lnTo>
                    <a:pt x="5654929" y="0"/>
                  </a:lnTo>
                  <a:lnTo>
                    <a:pt x="5655310" y="3429"/>
                  </a:lnTo>
                  <a:cubicBezTo>
                    <a:pt x="5724906" y="988187"/>
                    <a:pt x="5511292" y="2003679"/>
                    <a:pt x="4980559" y="2923032"/>
                  </a:cubicBezTo>
                  <a:cubicBezTo>
                    <a:pt x="4007358" y="4608449"/>
                    <a:pt x="2221611" y="5532120"/>
                    <a:pt x="403860" y="5485003"/>
                  </a:cubicBezTo>
                  <a:lnTo>
                    <a:pt x="0" y="5454777"/>
                  </a:lnTo>
                  <a:close/>
                </a:path>
              </a:pathLst>
            </a:custGeom>
            <a:solidFill>
              <a:srgbClr val="EF233C"/>
            </a:solidFill>
          </p:spPr>
        </p:sp>
      </p:grpSp>
      <p:sp>
        <p:nvSpPr>
          <p:cNvPr id="16" name="TextBox 4"/>
          <p:cNvSpPr txBox="1"/>
          <p:nvPr/>
        </p:nvSpPr>
        <p:spPr>
          <a:xfrm>
            <a:off x="1642872" y="1952775"/>
            <a:ext cx="14130528" cy="9514143"/>
          </a:xfrm>
          <a:prstGeom prst="rect">
            <a:avLst/>
          </a:prstGeom>
        </p:spPr>
        <p:txBody>
          <a:bodyPr wrap="square" lIns="0" tIns="0" rIns="0" bIns="0" rtlCol="0" anchor="t">
            <a:spAutoFit/>
          </a:bodyPr>
          <a:lstStyle/>
          <a:p>
            <a:r>
              <a:rPr lang="en-US" sz="3200" dirty="0"/>
              <a:t>[1] R. S. Pressman, Software Engineering: A Practitioner’s Approach, 8th ed., McGraw-Hill, 2014.</a:t>
            </a:r>
          </a:p>
          <a:p>
            <a:r>
              <a:rPr lang="en-US" sz="3200" dirty="0"/>
              <a:t> </a:t>
            </a:r>
          </a:p>
          <a:p>
            <a:r>
              <a:rPr lang="en-US" sz="3200" dirty="0"/>
              <a:t>[2] I. Sommerville, Software Engineering, 10th ed., Pearson, 2016.</a:t>
            </a:r>
          </a:p>
          <a:p>
            <a:r>
              <a:rPr lang="en-US" sz="3200" dirty="0"/>
              <a:t> </a:t>
            </a:r>
          </a:p>
          <a:p>
            <a:r>
              <a:rPr lang="en-US" sz="3200" dirty="0"/>
              <a:t>[3] Uni Bytes, "BCA Project Documentation," 2024.</a:t>
            </a:r>
          </a:p>
          <a:p>
            <a:r>
              <a:rPr lang="en-US" sz="3200" dirty="0"/>
              <a:t> </a:t>
            </a:r>
          </a:p>
          <a:p>
            <a:r>
              <a:rPr lang="en-US" sz="3200" dirty="0"/>
              <a:t>[4] </a:t>
            </a:r>
            <a:r>
              <a:rPr lang="en-US" sz="3200" dirty="0" err="1"/>
              <a:t>SourceCodester</a:t>
            </a:r>
            <a:r>
              <a:rPr lang="en-US" sz="3200" dirty="0"/>
              <a:t>, "Online Exam System Source Code," 2026.</a:t>
            </a:r>
          </a:p>
          <a:p>
            <a:r>
              <a:rPr lang="en-US" sz="3200" dirty="0"/>
              <a:t> </a:t>
            </a:r>
          </a:p>
          <a:p>
            <a:r>
              <a:rPr lang="en-US" sz="3200" dirty="0"/>
              <a:t>[5] W. W. Royce, "Managing the Development of Large Software Systems," IEEE, 1970.</a:t>
            </a:r>
          </a:p>
          <a:p>
            <a:r>
              <a:rPr lang="en-US" sz="3200" dirty="0"/>
              <a:t> </a:t>
            </a:r>
          </a:p>
          <a:p>
            <a:r>
              <a:rPr lang="en-US" sz="3200" dirty="0"/>
              <a:t>[6] E. Yourdon, Modern Structured Analysis, Prentice Hall, 1989.</a:t>
            </a:r>
          </a:p>
          <a:p>
            <a:r>
              <a:rPr lang="en-US" sz="3200" dirty="0"/>
              <a:t> </a:t>
            </a:r>
          </a:p>
          <a:p>
            <a:r>
              <a:rPr lang="en-US" sz="3200" dirty="0"/>
              <a:t>[7] G. Booch et al., The Unified Modeling Language User Guide, Addison-Wesley, 2005.</a:t>
            </a:r>
          </a:p>
          <a:p>
            <a:r>
              <a:rPr lang="en-US" sz="3200" dirty="0"/>
              <a:t> </a:t>
            </a:r>
          </a:p>
          <a:p>
            <a:r>
              <a:rPr lang="en-US" sz="3200" dirty="0"/>
              <a:t> </a:t>
            </a:r>
          </a:p>
          <a:p>
            <a:endParaRPr lang="en-US" sz="3200" dirty="0"/>
          </a:p>
          <a:p>
            <a:pPr marR="0">
              <a:lnSpc>
                <a:spcPct val="150000"/>
              </a:lnSpc>
              <a:spcBef>
                <a:spcPts val="0"/>
              </a:spcBef>
              <a:spcAft>
                <a:spcPts val="0"/>
              </a:spcAft>
            </a:pPr>
            <a:endParaRPr lang="en-US"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7543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rot="-10800000">
            <a:off x="10915650" y="3771759"/>
            <a:ext cx="6836907" cy="2924175"/>
          </a:xfrm>
          <a:prstGeom prst="rect">
            <a:avLst/>
          </a:prstGeom>
        </p:spPr>
        <p:txBody>
          <a:bodyPr lIns="0" tIns="0" rIns="0" bIns="0" rtlCol="0" anchor="t">
            <a:spAutoFit/>
          </a:bodyPr>
          <a:lstStyle/>
          <a:p>
            <a:pPr algn="l">
              <a:lnSpc>
                <a:spcPts val="10800"/>
              </a:lnSpc>
            </a:pPr>
            <a:r>
              <a:rPr lang="en-US" sz="9000">
                <a:solidFill>
                  <a:srgbClr val="EF233C"/>
                </a:solidFill>
                <a:latin typeface="Futura Ultra-Bold"/>
                <a:ea typeface="Futura Ultra-Bold"/>
                <a:cs typeface="Futura Ultra-Bold"/>
                <a:sym typeface="Futura Ultra-Bold"/>
              </a:rPr>
              <a:t>Thank</a:t>
            </a:r>
          </a:p>
          <a:p>
            <a:pPr algn="l">
              <a:lnSpc>
                <a:spcPts val="10800"/>
              </a:lnSpc>
            </a:pPr>
            <a:r>
              <a:rPr lang="en-US" sz="9000">
                <a:solidFill>
                  <a:srgbClr val="EF233C"/>
                </a:solidFill>
                <a:latin typeface="Futura Ultra-Bold"/>
                <a:ea typeface="Futura Ultra-Bold"/>
                <a:cs typeface="Futura Ultra-Bold"/>
                <a:sym typeface="Futura Ultra-Bold"/>
              </a:rPr>
              <a:t>You</a:t>
            </a:r>
          </a:p>
        </p:txBody>
      </p:sp>
      <p:grpSp>
        <p:nvGrpSpPr>
          <p:cNvPr id="3" name="Group 3"/>
          <p:cNvGrpSpPr/>
          <p:nvPr/>
        </p:nvGrpSpPr>
        <p:grpSpPr>
          <a:xfrm rot="-9960243">
            <a:off x="11464410" y="9339210"/>
            <a:ext cx="5658816" cy="2538160"/>
            <a:chOff x="0" y="0"/>
            <a:chExt cx="7545088" cy="3384214"/>
          </a:xfrm>
        </p:grpSpPr>
        <p:sp>
          <p:nvSpPr>
            <p:cNvPr id="4" name="Freeform 4"/>
            <p:cNvSpPr/>
            <p:nvPr/>
          </p:nvSpPr>
          <p:spPr>
            <a:xfrm>
              <a:off x="0" y="0"/>
              <a:ext cx="7733665" cy="3572764"/>
            </a:xfrm>
            <a:custGeom>
              <a:avLst/>
              <a:gdLst/>
              <a:ahLst/>
              <a:cxnLst/>
              <a:rect l="l" t="t" r="r" b="b"/>
              <a:pathLst>
                <a:path w="7733665" h="3572764">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0074BE"/>
            </a:solidFill>
          </p:spPr>
        </p:sp>
      </p:grpSp>
      <p:grpSp>
        <p:nvGrpSpPr>
          <p:cNvPr id="5" name="Group 5"/>
          <p:cNvGrpSpPr/>
          <p:nvPr/>
        </p:nvGrpSpPr>
        <p:grpSpPr>
          <a:xfrm rot="6218106">
            <a:off x="10652349" y="-2726648"/>
            <a:ext cx="5658816" cy="2538160"/>
            <a:chOff x="0" y="0"/>
            <a:chExt cx="7545088" cy="3384214"/>
          </a:xfrm>
        </p:grpSpPr>
        <p:sp>
          <p:nvSpPr>
            <p:cNvPr id="6" name="Freeform 6"/>
            <p:cNvSpPr/>
            <p:nvPr/>
          </p:nvSpPr>
          <p:spPr>
            <a:xfrm>
              <a:off x="0" y="0"/>
              <a:ext cx="7733665" cy="3572764"/>
            </a:xfrm>
            <a:custGeom>
              <a:avLst/>
              <a:gdLst/>
              <a:ahLst/>
              <a:cxnLst/>
              <a:rect l="l" t="t" r="r" b="b"/>
              <a:pathLst>
                <a:path w="7733665" h="3572764">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0074BE"/>
            </a:solidFill>
          </p:spPr>
        </p:sp>
      </p:grpSp>
      <p:grpSp>
        <p:nvGrpSpPr>
          <p:cNvPr id="7" name="Group 7"/>
          <p:cNvGrpSpPr/>
          <p:nvPr/>
        </p:nvGrpSpPr>
        <p:grpSpPr>
          <a:xfrm>
            <a:off x="10970756" y="2632358"/>
            <a:ext cx="5022001" cy="5022001"/>
            <a:chOff x="0" y="0"/>
            <a:chExt cx="6696000" cy="6696000"/>
          </a:xfrm>
        </p:grpSpPr>
        <p:sp>
          <p:nvSpPr>
            <p:cNvPr id="8" name="Freeform 8"/>
            <p:cNvSpPr/>
            <p:nvPr/>
          </p:nvSpPr>
          <p:spPr>
            <a:xfrm>
              <a:off x="0" y="0"/>
              <a:ext cx="6695948" cy="6695948"/>
            </a:xfrm>
            <a:custGeom>
              <a:avLst/>
              <a:gdLst/>
              <a:ahLst/>
              <a:cxnLst/>
              <a:rect l="l" t="t" r="r" b="b"/>
              <a:pathLst>
                <a:path w="6695948" h="6695948">
                  <a:moveTo>
                    <a:pt x="0" y="3347974"/>
                  </a:moveTo>
                  <a:cubicBezTo>
                    <a:pt x="0" y="1498981"/>
                    <a:pt x="1498981" y="0"/>
                    <a:pt x="3347974" y="0"/>
                  </a:cubicBezTo>
                  <a:cubicBezTo>
                    <a:pt x="5196967" y="0"/>
                    <a:pt x="6695948" y="1498981"/>
                    <a:pt x="6695948" y="3347974"/>
                  </a:cubicBezTo>
                  <a:cubicBezTo>
                    <a:pt x="6695948" y="5196967"/>
                    <a:pt x="5197094" y="6695948"/>
                    <a:pt x="3347974" y="6695948"/>
                  </a:cubicBezTo>
                  <a:cubicBezTo>
                    <a:pt x="1498854" y="6695948"/>
                    <a:pt x="0" y="5197094"/>
                    <a:pt x="0" y="3347974"/>
                  </a:cubicBezTo>
                  <a:close/>
                </a:path>
              </a:pathLst>
            </a:custGeom>
            <a:solidFill>
              <a:srgbClr val="F2F2F2"/>
            </a:solidFill>
          </p:spPr>
        </p:sp>
      </p:grpSp>
      <p:grpSp>
        <p:nvGrpSpPr>
          <p:cNvPr id="9" name="Group 9"/>
          <p:cNvGrpSpPr/>
          <p:nvPr/>
        </p:nvGrpSpPr>
        <p:grpSpPr>
          <a:xfrm rot="-5400000">
            <a:off x="11654757" y="1826860"/>
            <a:ext cx="10286999" cy="6633000"/>
            <a:chOff x="0" y="0"/>
            <a:chExt cx="13715996" cy="8843998"/>
          </a:xfrm>
        </p:grpSpPr>
        <p:sp>
          <p:nvSpPr>
            <p:cNvPr id="10" name="Freeform 10"/>
            <p:cNvSpPr/>
            <p:nvPr/>
          </p:nvSpPr>
          <p:spPr>
            <a:xfrm>
              <a:off x="0" y="0"/>
              <a:ext cx="13716000" cy="8843899"/>
            </a:xfrm>
            <a:custGeom>
              <a:avLst/>
              <a:gdLst/>
              <a:ahLst/>
              <a:cxnLst/>
              <a:rect l="l" t="t" r="r" b="b"/>
              <a:pathLst>
                <a:path w="13716000" h="8843899">
                  <a:moveTo>
                    <a:pt x="11237341" y="0"/>
                  </a:moveTo>
                  <a:lnTo>
                    <a:pt x="2478659" y="0"/>
                  </a:lnTo>
                  <a:lnTo>
                    <a:pt x="0" y="2478659"/>
                  </a:lnTo>
                  <a:lnTo>
                    <a:pt x="0" y="8843899"/>
                  </a:lnTo>
                  <a:lnTo>
                    <a:pt x="13716000" y="8843899"/>
                  </a:lnTo>
                  <a:lnTo>
                    <a:pt x="13716000" y="2478659"/>
                  </a:lnTo>
                  <a:close/>
                </a:path>
              </a:pathLst>
            </a:custGeom>
            <a:solidFill>
              <a:srgbClr val="EF233C"/>
            </a:solidFill>
          </p:spPr>
        </p:sp>
      </p:grpSp>
      <p:grpSp>
        <p:nvGrpSpPr>
          <p:cNvPr id="11" name="Group 11"/>
          <p:cNvGrpSpPr/>
          <p:nvPr/>
        </p:nvGrpSpPr>
        <p:grpSpPr>
          <a:xfrm>
            <a:off x="11241476" y="2903078"/>
            <a:ext cx="4480561" cy="4480561"/>
            <a:chOff x="0" y="0"/>
            <a:chExt cx="5974080" cy="5974080"/>
          </a:xfrm>
        </p:grpSpPr>
        <p:sp>
          <p:nvSpPr>
            <p:cNvPr id="12" name="Freeform 12"/>
            <p:cNvSpPr/>
            <p:nvPr/>
          </p:nvSpPr>
          <p:spPr>
            <a:xfrm>
              <a:off x="0" y="0"/>
              <a:ext cx="5974080" cy="5974080"/>
            </a:xfrm>
            <a:custGeom>
              <a:avLst/>
              <a:gdLst/>
              <a:ahLst/>
              <a:cxnLst/>
              <a:rect l="l" t="t" r="r" b="b"/>
              <a:pathLst>
                <a:path w="5974080" h="5974080">
                  <a:moveTo>
                    <a:pt x="0" y="2987040"/>
                  </a:moveTo>
                  <a:cubicBezTo>
                    <a:pt x="0" y="1337310"/>
                    <a:pt x="1337310" y="0"/>
                    <a:pt x="2987040" y="0"/>
                  </a:cubicBezTo>
                  <a:cubicBezTo>
                    <a:pt x="4636770" y="0"/>
                    <a:pt x="5974080" y="1337310"/>
                    <a:pt x="5974080" y="2987040"/>
                  </a:cubicBezTo>
                  <a:cubicBezTo>
                    <a:pt x="5974080" y="4636770"/>
                    <a:pt x="4636770" y="5974080"/>
                    <a:pt x="2987040" y="5974080"/>
                  </a:cubicBezTo>
                  <a:cubicBezTo>
                    <a:pt x="1337310" y="5974080"/>
                    <a:pt x="0" y="4636770"/>
                    <a:pt x="0" y="2987040"/>
                  </a:cubicBezTo>
                  <a:close/>
                </a:path>
              </a:pathLst>
            </a:custGeom>
            <a:solidFill>
              <a:srgbClr val="FFFFFF"/>
            </a:solidFill>
          </p:spPr>
        </p:sp>
      </p:grpSp>
      <p:grpSp>
        <p:nvGrpSpPr>
          <p:cNvPr id="13" name="Group 13"/>
          <p:cNvGrpSpPr/>
          <p:nvPr/>
        </p:nvGrpSpPr>
        <p:grpSpPr>
          <a:xfrm>
            <a:off x="11508989" y="3262845"/>
            <a:ext cx="3942001" cy="3942001"/>
            <a:chOff x="0" y="0"/>
            <a:chExt cx="5256000" cy="5256000"/>
          </a:xfrm>
        </p:grpSpPr>
        <p:sp>
          <p:nvSpPr>
            <p:cNvPr id="14" name="Freeform 14"/>
            <p:cNvSpPr/>
            <p:nvPr/>
          </p:nvSpPr>
          <p:spPr>
            <a:xfrm>
              <a:off x="0" y="0"/>
              <a:ext cx="5256022" cy="5256022"/>
            </a:xfrm>
            <a:custGeom>
              <a:avLst/>
              <a:gdLst/>
              <a:ahLst/>
              <a:cxnLst/>
              <a:rect l="l" t="t" r="r" b="b"/>
              <a:pathLst>
                <a:path w="5256022" h="5256022">
                  <a:moveTo>
                    <a:pt x="0" y="2628011"/>
                  </a:moveTo>
                  <a:cubicBezTo>
                    <a:pt x="0" y="1176655"/>
                    <a:pt x="1176655" y="0"/>
                    <a:pt x="2628011" y="0"/>
                  </a:cubicBezTo>
                  <a:cubicBezTo>
                    <a:pt x="4079367" y="0"/>
                    <a:pt x="5256022" y="1176655"/>
                    <a:pt x="5256022" y="2628011"/>
                  </a:cubicBezTo>
                  <a:cubicBezTo>
                    <a:pt x="5256022" y="4079367"/>
                    <a:pt x="4079367" y="5256022"/>
                    <a:pt x="2628011" y="5256022"/>
                  </a:cubicBezTo>
                  <a:cubicBezTo>
                    <a:pt x="1176655" y="5256022"/>
                    <a:pt x="0" y="4079367"/>
                    <a:pt x="0" y="2628011"/>
                  </a:cubicBezTo>
                  <a:close/>
                </a:path>
              </a:pathLst>
            </a:custGeom>
            <a:blipFill>
              <a:blip r:embed="rId2"/>
              <a:stretch>
                <a:fillRect/>
              </a:stretch>
            </a:blipFill>
          </p:spPr>
        </p:sp>
      </p:grpSp>
      <p:sp>
        <p:nvSpPr>
          <p:cNvPr id="15" name="TextBox 15"/>
          <p:cNvSpPr txBox="1"/>
          <p:nvPr/>
        </p:nvSpPr>
        <p:spPr>
          <a:xfrm>
            <a:off x="2116350" y="4276725"/>
            <a:ext cx="7027650" cy="1552575"/>
          </a:xfrm>
          <a:prstGeom prst="rect">
            <a:avLst/>
          </a:prstGeom>
        </p:spPr>
        <p:txBody>
          <a:bodyPr lIns="0" tIns="0" rIns="0" bIns="0" rtlCol="0" anchor="t">
            <a:spAutoFit/>
          </a:bodyPr>
          <a:lstStyle/>
          <a:p>
            <a:pPr algn="l">
              <a:lnSpc>
                <a:spcPts val="10800"/>
              </a:lnSpc>
            </a:pPr>
            <a:r>
              <a:rPr lang="en-US" sz="9000" dirty="0">
                <a:solidFill>
                  <a:srgbClr val="EF233C"/>
                </a:solidFill>
                <a:latin typeface="Futura Ultra-Bold"/>
                <a:ea typeface="Futura Ultra-Bold"/>
                <a:cs typeface="Futura Ultra-Bold"/>
                <a:sym typeface="Futura Ultra-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1245</TotalTime>
  <Words>759</Words>
  <Application>Microsoft Office PowerPoint</Application>
  <PresentationFormat>Custom</PresentationFormat>
  <Paragraphs>118</Paragraphs>
  <Slides>31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Helios</vt:lpstr>
      <vt:lpstr>Futura Ultra-Bold</vt:lpstr>
      <vt:lpstr>TT Hoves Bold</vt:lpstr>
      <vt:lpstr>Helios Bold</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Admin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ANY QUESTIONS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Everest Project Presentation</dc:title>
  <dc:creator>dell</dc:creator>
  <cp:lastModifiedBy>dell</cp:lastModifiedBy>
  <cp:revision>103</cp:revision>
  <dcterms:created xsi:type="dcterms:W3CDTF">2006-08-16T00:00:00Z</dcterms:created>
  <dcterms:modified xsi:type="dcterms:W3CDTF">2026-03-27T15:52:49Z</dcterms:modified>
  <dc:identifier>DAGLBSQD5qA</dc:identifier>
</cp:coreProperties>
</file>